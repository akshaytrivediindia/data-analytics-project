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2192000" cy="6858000"/>
  <p:notesSz cx="6858000" cy="9144000"/>
  <p:embeddedFontLst>
    <p:embeddedFont>
      <p:font typeface="Poppins" charset="1" panose="00000500000000000000"/>
      <p:regular r:id="rId17"/>
    </p:embeddedFont>
    <p:embeddedFont>
      <p:font typeface="Arial" charset="1" panose="020B0604020202020204"/>
      <p:regular r:id="rId18"/>
    </p:embeddedFont>
    <p:embeddedFont>
      <p:font typeface="Poppins Bold" charset="1" panose="000008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svg" Type="http://schemas.openxmlformats.org/officeDocument/2006/relationships/image"/><Relationship Id="rId2" Target="../media/image13.png" Type="http://schemas.openxmlformats.org/officeDocument/2006/relationships/image"/><Relationship Id="rId3" Target="../media/image14.svg" Type="http://schemas.openxmlformats.org/officeDocument/2006/relationships/image"/><Relationship Id="rId4" Target="../media/image15.jpe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18.png" Type="http://schemas.openxmlformats.org/officeDocument/2006/relationships/image"/><Relationship Id="rId8" Target="../media/image19.svg" Type="http://schemas.openxmlformats.org/officeDocument/2006/relationships/image"/><Relationship Id="rId9" Target="../media/image2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svg" Type="http://schemas.openxmlformats.org/officeDocument/2006/relationships/image"/><Relationship Id="rId4" Target="../media/image18.png" Type="http://schemas.openxmlformats.org/officeDocument/2006/relationships/image"/><Relationship Id="rId5" Target="../media/image24.svg" Type="http://schemas.openxmlformats.org/officeDocument/2006/relationships/image"/><Relationship Id="rId6" Target="../media/image20.png" Type="http://schemas.openxmlformats.org/officeDocument/2006/relationships/image"/><Relationship Id="rId7" Target="../media/image21.svg" Type="http://schemas.openxmlformats.org/officeDocument/2006/relationships/image"/><Relationship Id="rId8" Target="../media/image2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26.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svg" Type="http://schemas.openxmlformats.org/officeDocument/2006/relationships/image"/><Relationship Id="rId4" Target="../media/image27.png" Type="http://schemas.openxmlformats.org/officeDocument/2006/relationships/image"/><Relationship Id="rId5" Target="../media/image28.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svg" Type="http://schemas.openxmlformats.org/officeDocument/2006/relationships/image"/><Relationship Id="rId4" Target="../media/image27.png" Type="http://schemas.openxmlformats.org/officeDocument/2006/relationships/image"/><Relationship Id="rId5" Target="../media/image28.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595959"/>
        </a:solidFill>
      </p:bgPr>
    </p:bg>
    <p:spTree>
      <p:nvGrpSpPr>
        <p:cNvPr id="1" name=""/>
        <p:cNvGrpSpPr/>
        <p:nvPr/>
      </p:nvGrpSpPr>
      <p:grpSpPr>
        <a:xfrm>
          <a:off x="0" y="0"/>
          <a:ext cx="0" cy="0"/>
          <a:chOff x="0" y="0"/>
          <a:chExt cx="0" cy="0"/>
        </a:xfrm>
      </p:grpSpPr>
      <p:sp>
        <p:nvSpPr>
          <p:cNvPr name="Freeform 2" id="2"/>
          <p:cNvSpPr/>
          <p:nvPr/>
        </p:nvSpPr>
        <p:spPr>
          <a:xfrm flipH="false" flipV="false" rot="0">
            <a:off x="774697" y="-63503"/>
            <a:ext cx="11480797" cy="6916417"/>
          </a:xfrm>
          <a:custGeom>
            <a:avLst/>
            <a:gdLst/>
            <a:ahLst/>
            <a:cxnLst/>
            <a:rect r="r" b="b" t="t" l="l"/>
            <a:pathLst>
              <a:path h="6916417" w="11480797">
                <a:moveTo>
                  <a:pt x="0" y="0"/>
                </a:moveTo>
                <a:lnTo>
                  <a:pt x="11480797" y="0"/>
                </a:lnTo>
                <a:lnTo>
                  <a:pt x="11480797" y="6916417"/>
                </a:lnTo>
                <a:lnTo>
                  <a:pt x="0" y="69164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923925" y="2344207"/>
            <a:ext cx="7897530" cy="1956054"/>
          </a:xfrm>
          <a:prstGeom prst="rect">
            <a:avLst/>
          </a:prstGeom>
        </p:spPr>
        <p:txBody>
          <a:bodyPr anchor="t" rtlCol="false" tIns="0" lIns="0" bIns="0" rIns="0">
            <a:spAutoFit/>
          </a:bodyPr>
          <a:lstStyle/>
          <a:p>
            <a:pPr algn="l">
              <a:lnSpc>
                <a:spcPts val="7452"/>
              </a:lnSpc>
            </a:pPr>
            <a:r>
              <a:rPr lang="en-US" sz="5400">
                <a:solidFill>
                  <a:srgbClr val="FFFFFF"/>
                </a:solidFill>
                <a:latin typeface="Poppins"/>
                <a:ea typeface="Poppins"/>
                <a:cs typeface="Poppins"/>
                <a:sym typeface="Poppins"/>
              </a:rPr>
              <a:t>Data Analytics using Pandas and Matplotlib</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80098" y="-62608"/>
            <a:ext cx="11475406" cy="6915521"/>
          </a:xfrm>
          <a:custGeom>
            <a:avLst/>
            <a:gdLst/>
            <a:ahLst/>
            <a:cxnLst/>
            <a:rect r="r" b="b" t="t" l="l"/>
            <a:pathLst>
              <a:path h="6915521" w="11475406">
                <a:moveTo>
                  <a:pt x="0" y="0"/>
                </a:moveTo>
                <a:lnTo>
                  <a:pt x="11475405" y="0"/>
                </a:lnTo>
                <a:lnTo>
                  <a:pt x="11475405" y="6915522"/>
                </a:lnTo>
                <a:lnTo>
                  <a:pt x="0" y="69155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931126" y="396821"/>
            <a:ext cx="1847659" cy="676275"/>
          </a:xfrm>
          <a:prstGeom prst="rect">
            <a:avLst/>
          </a:prstGeom>
        </p:spPr>
        <p:txBody>
          <a:bodyPr anchor="t" rtlCol="false" tIns="0" lIns="0" bIns="0" rIns="0">
            <a:spAutoFit/>
          </a:bodyPr>
          <a:lstStyle/>
          <a:p>
            <a:pPr algn="l">
              <a:lnSpc>
                <a:spcPts val="5040"/>
              </a:lnSpc>
            </a:pPr>
            <a:r>
              <a:rPr lang="en-US" sz="3600">
                <a:solidFill>
                  <a:srgbClr val="424242"/>
                </a:solidFill>
                <a:latin typeface="Poppins"/>
                <a:ea typeface="Poppins"/>
                <a:cs typeface="Poppins"/>
                <a:sym typeface="Poppins"/>
              </a:rPr>
              <a:t>Agenda</a:t>
            </a:r>
          </a:p>
        </p:txBody>
      </p:sp>
      <p:sp>
        <p:nvSpPr>
          <p:cNvPr name="TextBox 4" id="4"/>
          <p:cNvSpPr txBox="true"/>
          <p:nvPr/>
        </p:nvSpPr>
        <p:spPr>
          <a:xfrm rot="0">
            <a:off x="958539" y="1851403"/>
            <a:ext cx="203425" cy="3636283"/>
          </a:xfrm>
          <a:prstGeom prst="rect">
            <a:avLst/>
          </a:prstGeom>
        </p:spPr>
        <p:txBody>
          <a:bodyPr anchor="t" rtlCol="false" tIns="0" lIns="0" bIns="0" rIns="0">
            <a:spAutoFit/>
          </a:bodyPr>
          <a:lstStyle/>
          <a:p>
            <a:pPr algn="just">
              <a:lnSpc>
                <a:spcPts val="3587"/>
              </a:lnSpc>
            </a:pPr>
            <a:r>
              <a:rPr lang="en-US" sz="2600">
                <a:solidFill>
                  <a:srgbClr val="424242"/>
                </a:solidFill>
                <a:latin typeface="Arial"/>
                <a:ea typeface="Arial"/>
                <a:cs typeface="Arial"/>
                <a:sym typeface="Arial"/>
              </a:rPr>
              <a:t>● ● ● ● ● ● ● ●</a:t>
            </a:r>
          </a:p>
        </p:txBody>
      </p:sp>
      <p:sp>
        <p:nvSpPr>
          <p:cNvPr name="TextBox 5" id="5"/>
          <p:cNvSpPr txBox="true"/>
          <p:nvPr/>
        </p:nvSpPr>
        <p:spPr>
          <a:xfrm rot="0">
            <a:off x="1386526" y="1874930"/>
            <a:ext cx="7319762" cy="3659629"/>
          </a:xfrm>
          <a:prstGeom prst="rect">
            <a:avLst/>
          </a:prstGeom>
        </p:spPr>
        <p:txBody>
          <a:bodyPr anchor="t" rtlCol="false" tIns="0" lIns="0" bIns="0" rIns="0">
            <a:spAutoFit/>
          </a:bodyPr>
          <a:lstStyle/>
          <a:p>
            <a:pPr algn="l">
              <a:lnSpc>
                <a:spcPts val="3587"/>
              </a:lnSpc>
            </a:pPr>
            <a:r>
              <a:rPr lang="en-US" sz="2600">
                <a:solidFill>
                  <a:srgbClr val="424242"/>
                </a:solidFill>
                <a:latin typeface="Poppins"/>
                <a:ea typeface="Poppins"/>
                <a:cs typeface="Poppins"/>
                <a:sym typeface="Poppins"/>
              </a:rPr>
              <a:t>Introduction to Data Analytics with Python Setting Up Your Environment Loading and Exploring Data with Pandas Data Cleaning and Preparation Data Analysis Techniques Visualizing Data with Matplotlib Practical Example: Analyzing a Real Dataset Summary and Next Steps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3E8E0"/>
        </a:solidFill>
      </p:bgPr>
    </p:bg>
    <p:spTree>
      <p:nvGrpSpPr>
        <p:cNvPr id="1" name=""/>
        <p:cNvGrpSpPr/>
        <p:nvPr/>
      </p:nvGrpSpPr>
      <p:grpSpPr>
        <a:xfrm>
          <a:off x="0" y="0"/>
          <a:ext cx="0" cy="0"/>
          <a:chOff x="0" y="0"/>
          <a:chExt cx="0" cy="0"/>
        </a:xfrm>
      </p:grpSpPr>
      <p:sp>
        <p:nvSpPr>
          <p:cNvPr name="Freeform 2" id="2"/>
          <p:cNvSpPr/>
          <p:nvPr/>
        </p:nvSpPr>
        <p:spPr>
          <a:xfrm flipH="false" flipV="false" rot="0">
            <a:off x="780098" y="-63503"/>
            <a:ext cx="11475406" cy="6916417"/>
          </a:xfrm>
          <a:custGeom>
            <a:avLst/>
            <a:gdLst/>
            <a:ahLst/>
            <a:cxnLst/>
            <a:rect r="r" b="b" t="t" l="l"/>
            <a:pathLst>
              <a:path h="6916417" w="11475406">
                <a:moveTo>
                  <a:pt x="0" y="0"/>
                </a:moveTo>
                <a:lnTo>
                  <a:pt x="11475405" y="0"/>
                </a:lnTo>
                <a:lnTo>
                  <a:pt x="11475405" y="6916417"/>
                </a:lnTo>
                <a:lnTo>
                  <a:pt x="0" y="69164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931126" y="396821"/>
            <a:ext cx="9733531" cy="676275"/>
          </a:xfrm>
          <a:prstGeom prst="rect">
            <a:avLst/>
          </a:prstGeom>
        </p:spPr>
        <p:txBody>
          <a:bodyPr anchor="t" rtlCol="false" tIns="0" lIns="0" bIns="0" rIns="0">
            <a:spAutoFit/>
          </a:bodyPr>
          <a:lstStyle/>
          <a:p>
            <a:pPr algn="l">
              <a:lnSpc>
                <a:spcPts val="5040"/>
              </a:lnSpc>
            </a:pPr>
            <a:r>
              <a:rPr lang="en-US" sz="3600">
                <a:solidFill>
                  <a:srgbClr val="424242"/>
                </a:solidFill>
                <a:latin typeface="Poppins"/>
                <a:ea typeface="Poppins"/>
                <a:cs typeface="Poppins"/>
                <a:sym typeface="Poppins"/>
              </a:rPr>
              <a:t>Introduction to Data Analytics with Python</a:t>
            </a:r>
          </a:p>
        </p:txBody>
      </p:sp>
      <p:sp>
        <p:nvSpPr>
          <p:cNvPr name="TextBox 4" id="4"/>
          <p:cNvSpPr txBox="true"/>
          <p:nvPr/>
        </p:nvSpPr>
        <p:spPr>
          <a:xfrm rot="0">
            <a:off x="929326" y="3470996"/>
            <a:ext cx="3454336" cy="327022"/>
          </a:xfrm>
          <a:prstGeom prst="rect">
            <a:avLst/>
          </a:prstGeom>
        </p:spPr>
        <p:txBody>
          <a:bodyPr anchor="t" rtlCol="false" tIns="0" lIns="0" bIns="0" rIns="0">
            <a:spAutoFit/>
          </a:bodyPr>
          <a:lstStyle/>
          <a:p>
            <a:pPr algn="l">
              <a:lnSpc>
                <a:spcPts val="2398"/>
              </a:lnSpc>
            </a:pPr>
            <a:r>
              <a:rPr lang="en-US" b="true" sz="1700">
                <a:solidFill>
                  <a:srgbClr val="424242"/>
                </a:solidFill>
                <a:latin typeface="Poppins Bold"/>
                <a:ea typeface="Poppins Bold"/>
                <a:cs typeface="Poppins Bold"/>
                <a:sym typeface="Poppins Bold"/>
              </a:rPr>
              <a:t>Role of Python in data analysis</a:t>
            </a:r>
          </a:p>
        </p:txBody>
      </p:sp>
      <p:sp>
        <p:nvSpPr>
          <p:cNvPr name="TextBox 5" id="5"/>
          <p:cNvSpPr txBox="true"/>
          <p:nvPr/>
        </p:nvSpPr>
        <p:spPr>
          <a:xfrm rot="0">
            <a:off x="1581979" y="3765871"/>
            <a:ext cx="51883" cy="285750"/>
          </a:xfrm>
          <a:prstGeom prst="rect">
            <a:avLst/>
          </a:prstGeom>
        </p:spPr>
        <p:txBody>
          <a:bodyPr anchor="t" rtlCol="false" tIns="0" lIns="0" bIns="0" rIns="0">
            <a:spAutoFit/>
          </a:bodyPr>
          <a:lstStyle/>
          <a:p>
            <a:pPr algn="l">
              <a:lnSpc>
                <a:spcPts val="2116"/>
              </a:lnSpc>
            </a:pPr>
            <a:r>
              <a:rPr lang="en-US" sz="1500">
                <a:solidFill>
                  <a:srgbClr val="424242"/>
                </a:solidFill>
                <a:latin typeface="Poppins"/>
                <a:ea typeface="Poppins"/>
                <a:cs typeface="Poppins"/>
                <a:sym typeface="Poppins"/>
              </a:rPr>
              <a:t> </a:t>
            </a:r>
          </a:p>
        </p:txBody>
      </p:sp>
      <p:sp>
        <p:nvSpPr>
          <p:cNvPr name="TextBox 6" id="6"/>
          <p:cNvSpPr txBox="true"/>
          <p:nvPr/>
        </p:nvSpPr>
        <p:spPr>
          <a:xfrm rot="0">
            <a:off x="929326" y="4820498"/>
            <a:ext cx="4863513" cy="327022"/>
          </a:xfrm>
          <a:prstGeom prst="rect">
            <a:avLst/>
          </a:prstGeom>
        </p:spPr>
        <p:txBody>
          <a:bodyPr anchor="t" rtlCol="false" tIns="0" lIns="0" bIns="0" rIns="0">
            <a:spAutoFit/>
          </a:bodyPr>
          <a:lstStyle/>
          <a:p>
            <a:pPr algn="l">
              <a:lnSpc>
                <a:spcPts val="2398"/>
              </a:lnSpc>
            </a:pPr>
            <a:r>
              <a:rPr lang="en-US" b="true" sz="1700">
                <a:solidFill>
                  <a:srgbClr val="424242"/>
                </a:solidFill>
                <a:latin typeface="Poppins Bold"/>
                <a:ea typeface="Poppins Bold"/>
                <a:cs typeface="Poppins Bold"/>
                <a:sym typeface="Poppins Bold"/>
              </a:rPr>
              <a:t>Brief introduction to Pandas and Matplotlib</a:t>
            </a:r>
          </a:p>
        </p:txBody>
      </p:sp>
      <p:sp>
        <p:nvSpPr>
          <p:cNvPr name="TextBox 7" id="7"/>
          <p:cNvSpPr txBox="true"/>
          <p:nvPr/>
        </p:nvSpPr>
        <p:spPr>
          <a:xfrm rot="0">
            <a:off x="1844488" y="5115373"/>
            <a:ext cx="51883" cy="285750"/>
          </a:xfrm>
          <a:prstGeom prst="rect">
            <a:avLst/>
          </a:prstGeom>
        </p:spPr>
        <p:txBody>
          <a:bodyPr anchor="t" rtlCol="false" tIns="0" lIns="0" bIns="0" rIns="0">
            <a:spAutoFit/>
          </a:bodyPr>
          <a:lstStyle/>
          <a:p>
            <a:pPr algn="l">
              <a:lnSpc>
                <a:spcPts val="2116"/>
              </a:lnSpc>
            </a:pPr>
            <a:r>
              <a:rPr lang="en-US" sz="1500">
                <a:solidFill>
                  <a:srgbClr val="424242"/>
                </a:solidFill>
                <a:latin typeface="Poppins"/>
                <a:ea typeface="Poppins"/>
                <a:cs typeface="Poppins"/>
                <a:sym typeface="Poppins"/>
              </a:rPr>
              <a:t> </a:t>
            </a:r>
          </a:p>
        </p:txBody>
      </p:sp>
      <p:sp>
        <p:nvSpPr>
          <p:cNvPr name="TextBox 8" id="8"/>
          <p:cNvSpPr txBox="true"/>
          <p:nvPr/>
        </p:nvSpPr>
        <p:spPr>
          <a:xfrm rot="0">
            <a:off x="929326" y="1858604"/>
            <a:ext cx="5233035" cy="327022"/>
          </a:xfrm>
          <a:prstGeom prst="rect">
            <a:avLst/>
          </a:prstGeom>
        </p:spPr>
        <p:txBody>
          <a:bodyPr anchor="t" rtlCol="false" tIns="0" lIns="0" bIns="0" rIns="0">
            <a:spAutoFit/>
          </a:bodyPr>
          <a:lstStyle/>
          <a:p>
            <a:pPr algn="l">
              <a:lnSpc>
                <a:spcPts val="2398"/>
              </a:lnSpc>
            </a:pPr>
            <a:r>
              <a:rPr lang="en-US" b="true" sz="1700">
                <a:solidFill>
                  <a:srgbClr val="424242"/>
                </a:solidFill>
                <a:latin typeface="Poppins Bold"/>
                <a:ea typeface="Poppins Bold"/>
                <a:cs typeface="Poppins Bold"/>
                <a:sym typeface="Poppins Bold"/>
              </a:rPr>
              <a:t>Overview of data analytics and its importance</a:t>
            </a:r>
          </a:p>
        </p:txBody>
      </p:sp>
      <p:sp>
        <p:nvSpPr>
          <p:cNvPr name="TextBox 9" id="9"/>
          <p:cNvSpPr txBox="true"/>
          <p:nvPr/>
        </p:nvSpPr>
        <p:spPr>
          <a:xfrm rot="0">
            <a:off x="1390907" y="2153479"/>
            <a:ext cx="51883" cy="285750"/>
          </a:xfrm>
          <a:prstGeom prst="rect">
            <a:avLst/>
          </a:prstGeom>
        </p:spPr>
        <p:txBody>
          <a:bodyPr anchor="t" rtlCol="false" tIns="0" lIns="0" bIns="0" rIns="0">
            <a:spAutoFit/>
          </a:bodyPr>
          <a:lstStyle/>
          <a:p>
            <a:pPr algn="l">
              <a:lnSpc>
                <a:spcPts val="2116"/>
              </a:lnSpc>
            </a:pPr>
            <a:r>
              <a:rPr lang="en-US" sz="1500">
                <a:solidFill>
                  <a:srgbClr val="424242"/>
                </a:solidFill>
                <a:latin typeface="Poppins"/>
                <a:ea typeface="Poppins"/>
                <a:cs typeface="Poppins"/>
                <a:sym typeface="Poppins"/>
              </a:rPr>
              <a:t> </a:t>
            </a:r>
          </a:p>
        </p:txBody>
      </p:sp>
      <p:sp>
        <p:nvSpPr>
          <p:cNvPr name="TextBox 10" id="10"/>
          <p:cNvSpPr txBox="true"/>
          <p:nvPr/>
        </p:nvSpPr>
        <p:spPr>
          <a:xfrm rot="0">
            <a:off x="929326" y="5124898"/>
            <a:ext cx="9671390" cy="276225"/>
          </a:xfrm>
          <a:prstGeom prst="rect">
            <a:avLst/>
          </a:prstGeom>
        </p:spPr>
        <p:txBody>
          <a:bodyPr anchor="t" rtlCol="false" tIns="0" lIns="0" bIns="0" rIns="0">
            <a:spAutoFit/>
          </a:bodyPr>
          <a:lstStyle/>
          <a:p>
            <a:pPr algn="l">
              <a:lnSpc>
                <a:spcPts val="2070"/>
              </a:lnSpc>
            </a:pPr>
            <a:r>
              <a:rPr lang="en-US" sz="1500">
                <a:solidFill>
                  <a:srgbClr val="424242"/>
                </a:solidFill>
                <a:latin typeface="Poppins"/>
                <a:ea typeface="Poppins"/>
                <a:cs typeface="Poppins"/>
                <a:sym typeface="Poppins"/>
              </a:rPr>
              <a:t>Pandas isa powerfulPython library for data manipulation and analysis, offering data structures like </a:t>
            </a:r>
          </a:p>
        </p:txBody>
      </p:sp>
      <p:sp>
        <p:nvSpPr>
          <p:cNvPr name="TextBox 11" id="11"/>
          <p:cNvSpPr txBox="true"/>
          <p:nvPr/>
        </p:nvSpPr>
        <p:spPr>
          <a:xfrm rot="0">
            <a:off x="929326" y="5387788"/>
            <a:ext cx="10332825" cy="802005"/>
          </a:xfrm>
          <a:prstGeom prst="rect">
            <a:avLst/>
          </a:prstGeom>
        </p:spPr>
        <p:txBody>
          <a:bodyPr anchor="t" rtlCol="false" tIns="0" lIns="0" bIns="0" rIns="0">
            <a:spAutoFit/>
          </a:bodyPr>
          <a:lstStyle/>
          <a:p>
            <a:pPr algn="just">
              <a:lnSpc>
                <a:spcPts val="2070"/>
              </a:lnSpc>
            </a:pPr>
            <a:r>
              <a:rPr lang="en-US" sz="1500">
                <a:solidFill>
                  <a:srgbClr val="424242"/>
                </a:solidFill>
                <a:latin typeface="Poppins"/>
                <a:ea typeface="Poppins"/>
                <a:cs typeface="Poppins"/>
                <a:sym typeface="Poppins"/>
              </a:rPr>
              <a:t>DataFrames that simplify handling diverse datasets. Matplotlib is a comprehensive plotting library used to create static, animated, and interactive visualizations. Together, these tools form a fundamental toolkit for performing end-to-end data analysis in Python.</a:t>
            </a:r>
          </a:p>
        </p:txBody>
      </p:sp>
      <p:sp>
        <p:nvSpPr>
          <p:cNvPr name="TextBox 12" id="12"/>
          <p:cNvSpPr txBox="true"/>
          <p:nvPr/>
        </p:nvSpPr>
        <p:spPr>
          <a:xfrm rot="0">
            <a:off x="929326" y="2163004"/>
            <a:ext cx="9387897" cy="276225"/>
          </a:xfrm>
          <a:prstGeom prst="rect">
            <a:avLst/>
          </a:prstGeom>
        </p:spPr>
        <p:txBody>
          <a:bodyPr anchor="t" rtlCol="false" tIns="0" lIns="0" bIns="0" rIns="0">
            <a:spAutoFit/>
          </a:bodyPr>
          <a:lstStyle/>
          <a:p>
            <a:pPr algn="l">
              <a:lnSpc>
                <a:spcPts val="2070"/>
              </a:lnSpc>
            </a:pPr>
            <a:r>
              <a:rPr lang="en-US" sz="1500">
                <a:solidFill>
                  <a:srgbClr val="424242"/>
                </a:solidFill>
                <a:latin typeface="Poppins"/>
                <a:ea typeface="Poppins"/>
                <a:cs typeface="Poppins"/>
                <a:sym typeface="Poppins"/>
              </a:rPr>
              <a:t>Dataanalyticsinvolves examining, cleaning, transforming, and modeling data to discover useful </a:t>
            </a:r>
          </a:p>
        </p:txBody>
      </p:sp>
      <p:sp>
        <p:nvSpPr>
          <p:cNvPr name="TextBox 13" id="13"/>
          <p:cNvSpPr txBox="true"/>
          <p:nvPr/>
        </p:nvSpPr>
        <p:spPr>
          <a:xfrm rot="0">
            <a:off x="929326" y="2425894"/>
            <a:ext cx="10517810" cy="802005"/>
          </a:xfrm>
          <a:prstGeom prst="rect">
            <a:avLst/>
          </a:prstGeom>
        </p:spPr>
        <p:txBody>
          <a:bodyPr anchor="t" rtlCol="false" tIns="0" lIns="0" bIns="0" rIns="0">
            <a:spAutoFit/>
          </a:bodyPr>
          <a:lstStyle/>
          <a:p>
            <a:pPr algn="l">
              <a:lnSpc>
                <a:spcPts val="2070"/>
              </a:lnSpc>
            </a:pPr>
            <a:r>
              <a:rPr lang="en-US" sz="1500">
                <a:solidFill>
                  <a:srgbClr val="424242"/>
                </a:solidFill>
                <a:latin typeface="Poppins"/>
                <a:ea typeface="Poppins"/>
                <a:cs typeface="Poppins"/>
                <a:sym typeface="Poppins"/>
              </a:rPr>
              <a:t>information, inform conclusions, and support decision-making. It is a vital component across industries, enabling organizations to optimize operations, understand customer behavior, and drive strategic growth in a data-driven world.</a:t>
            </a:r>
          </a:p>
        </p:txBody>
      </p:sp>
      <p:sp>
        <p:nvSpPr>
          <p:cNvPr name="TextBox 14" id="14"/>
          <p:cNvSpPr txBox="true"/>
          <p:nvPr/>
        </p:nvSpPr>
        <p:spPr>
          <a:xfrm rot="0">
            <a:off x="929326" y="3775396"/>
            <a:ext cx="10378097" cy="276225"/>
          </a:xfrm>
          <a:prstGeom prst="rect">
            <a:avLst/>
          </a:prstGeom>
        </p:spPr>
        <p:txBody>
          <a:bodyPr anchor="t" rtlCol="false" tIns="0" lIns="0" bIns="0" rIns="0">
            <a:spAutoFit/>
          </a:bodyPr>
          <a:lstStyle/>
          <a:p>
            <a:pPr algn="l">
              <a:lnSpc>
                <a:spcPts val="2070"/>
              </a:lnSpc>
            </a:pPr>
            <a:r>
              <a:rPr lang="en-US" sz="1500">
                <a:solidFill>
                  <a:srgbClr val="424242"/>
                </a:solidFill>
                <a:latin typeface="Poppins"/>
                <a:ea typeface="Poppins"/>
                <a:cs typeface="Poppins"/>
                <a:sym typeface="Poppins"/>
              </a:rPr>
              <a:t>Pythonhas becomea leading language for data analysis due to its simplicity, versatility, and the extensive </a:t>
            </a:r>
          </a:p>
        </p:txBody>
      </p:sp>
      <p:sp>
        <p:nvSpPr>
          <p:cNvPr name="TextBox 15" id="15"/>
          <p:cNvSpPr txBox="true"/>
          <p:nvPr/>
        </p:nvSpPr>
        <p:spPr>
          <a:xfrm rot="0">
            <a:off x="929326" y="4038286"/>
            <a:ext cx="10562892" cy="539115"/>
          </a:xfrm>
          <a:prstGeom prst="rect">
            <a:avLst/>
          </a:prstGeom>
        </p:spPr>
        <p:txBody>
          <a:bodyPr anchor="t" rtlCol="false" tIns="0" lIns="0" bIns="0" rIns="0">
            <a:spAutoFit/>
          </a:bodyPr>
          <a:lstStyle/>
          <a:p>
            <a:pPr algn="l">
              <a:lnSpc>
                <a:spcPts val="2070"/>
              </a:lnSpc>
            </a:pPr>
            <a:r>
              <a:rPr lang="en-US" sz="1500">
                <a:solidFill>
                  <a:srgbClr val="424242"/>
                </a:solidFill>
                <a:latin typeface="Poppins"/>
                <a:ea typeface="Poppins"/>
                <a:cs typeface="Poppins"/>
                <a:sym typeface="Poppins"/>
              </a:rPr>
              <a:t>ecosystem of libraries. It allows analysts to efficiently manipulate large datasets, perform complex statistical operations, and visualize data insights, making it an essential tool for modern data professionals.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3E8E0"/>
        </a:solidFill>
      </p:bgPr>
    </p:bg>
    <p:spTree>
      <p:nvGrpSpPr>
        <p:cNvPr id="1" name=""/>
        <p:cNvGrpSpPr/>
        <p:nvPr/>
      </p:nvGrpSpPr>
      <p:grpSpPr>
        <a:xfrm>
          <a:off x="0" y="0"/>
          <a:ext cx="0" cy="0"/>
          <a:chOff x="0" y="0"/>
          <a:chExt cx="0" cy="0"/>
        </a:xfrm>
      </p:grpSpPr>
      <p:sp>
        <p:nvSpPr>
          <p:cNvPr name="Freeform 2" id="2"/>
          <p:cNvSpPr/>
          <p:nvPr/>
        </p:nvSpPr>
        <p:spPr>
          <a:xfrm flipH="false" flipV="false" rot="0">
            <a:off x="845401" y="365122"/>
            <a:ext cx="10515600" cy="1218905"/>
          </a:xfrm>
          <a:custGeom>
            <a:avLst/>
            <a:gdLst/>
            <a:ahLst/>
            <a:cxnLst/>
            <a:rect r="r" b="b" t="t" l="l"/>
            <a:pathLst>
              <a:path h="1218905" w="10515600">
                <a:moveTo>
                  <a:pt x="0" y="0"/>
                </a:moveTo>
                <a:lnTo>
                  <a:pt x="10515600" y="0"/>
                </a:lnTo>
                <a:lnTo>
                  <a:pt x="10515600" y="1218905"/>
                </a:lnTo>
                <a:lnTo>
                  <a:pt x="0" y="12189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80098" y="1762125"/>
            <a:ext cx="11475406" cy="5090798"/>
          </a:xfrm>
          <a:custGeom>
            <a:avLst/>
            <a:gdLst/>
            <a:ahLst/>
            <a:cxnLst/>
            <a:rect r="r" b="b" t="t" l="l"/>
            <a:pathLst>
              <a:path h="5090798" w="11475406">
                <a:moveTo>
                  <a:pt x="0" y="0"/>
                </a:moveTo>
                <a:lnTo>
                  <a:pt x="11475405" y="0"/>
                </a:lnTo>
                <a:lnTo>
                  <a:pt x="11475405" y="5090798"/>
                </a:lnTo>
                <a:lnTo>
                  <a:pt x="0" y="509079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931126" y="396821"/>
            <a:ext cx="6600168" cy="676275"/>
          </a:xfrm>
          <a:prstGeom prst="rect">
            <a:avLst/>
          </a:prstGeom>
        </p:spPr>
        <p:txBody>
          <a:bodyPr anchor="t" rtlCol="false" tIns="0" lIns="0" bIns="0" rIns="0">
            <a:spAutoFit/>
          </a:bodyPr>
          <a:lstStyle/>
          <a:p>
            <a:pPr algn="l">
              <a:lnSpc>
                <a:spcPts val="5040"/>
              </a:lnSpc>
            </a:pPr>
            <a:r>
              <a:rPr lang="en-US" sz="3600">
                <a:solidFill>
                  <a:srgbClr val="424242"/>
                </a:solidFill>
                <a:latin typeface="Poppins"/>
                <a:ea typeface="Poppins"/>
                <a:cs typeface="Poppins"/>
                <a:sym typeface="Poppins"/>
              </a:rPr>
              <a:t>Setting Up Your Environment</a:t>
            </a:r>
          </a:p>
        </p:txBody>
      </p:sp>
      <p:sp>
        <p:nvSpPr>
          <p:cNvPr name="TextBox 5" id="5"/>
          <p:cNvSpPr txBox="true"/>
          <p:nvPr/>
        </p:nvSpPr>
        <p:spPr>
          <a:xfrm rot="0">
            <a:off x="929326" y="3298803"/>
            <a:ext cx="10393251" cy="1172518"/>
          </a:xfrm>
          <a:prstGeom prst="rect">
            <a:avLst/>
          </a:prstGeom>
        </p:spPr>
        <p:txBody>
          <a:bodyPr anchor="t" rtlCol="false" tIns="0" lIns="0" bIns="0" rIns="0">
            <a:spAutoFit/>
          </a:bodyPr>
          <a:lstStyle/>
          <a:p>
            <a:pPr algn="l">
              <a:lnSpc>
                <a:spcPts val="2520"/>
              </a:lnSpc>
            </a:pPr>
            <a:r>
              <a:rPr lang="en-US" b="true" sz="1800">
                <a:solidFill>
                  <a:srgbClr val="424242"/>
                </a:solidFill>
                <a:latin typeface="Poppins Bold"/>
                <a:ea typeface="Poppins Bold"/>
                <a:cs typeface="Poppins Bold"/>
                <a:sym typeface="Poppins Bold"/>
              </a:rPr>
              <a:t>Using Jupyter Notebook or IDEs</a:t>
            </a:r>
          </a:p>
          <a:p>
            <a:pPr algn="l">
              <a:lnSpc>
                <a:spcPts val="2208"/>
              </a:lnSpc>
            </a:pPr>
            <a:r>
              <a:rPr lang="en-US" sz="1600">
                <a:solidFill>
                  <a:srgbClr val="424242"/>
                </a:solidFill>
                <a:latin typeface="Poppins"/>
                <a:ea typeface="Poppins"/>
                <a:cs typeface="Poppins"/>
                <a:sym typeface="Poppins"/>
              </a:rPr>
              <a:t>Jupyter Notebook provides an interactive environment ideal for data analysis, allowing you to combine code, visualizations, and documentation seamlessly. Alternatively, many developers prefer IDEs such as Visual Studio Code or PyCharm for more advanced scripting and project management.</a:t>
            </a:r>
          </a:p>
        </p:txBody>
      </p:sp>
      <p:sp>
        <p:nvSpPr>
          <p:cNvPr name="TextBox 6" id="6"/>
          <p:cNvSpPr txBox="true"/>
          <p:nvPr/>
        </p:nvSpPr>
        <p:spPr>
          <a:xfrm rot="0">
            <a:off x="929326" y="4735935"/>
            <a:ext cx="3964391" cy="342900"/>
          </a:xfrm>
          <a:prstGeom prst="rect">
            <a:avLst/>
          </a:prstGeom>
        </p:spPr>
        <p:txBody>
          <a:bodyPr anchor="t" rtlCol="false" tIns="0" lIns="0" bIns="0" rIns="0">
            <a:spAutoFit/>
          </a:bodyPr>
          <a:lstStyle/>
          <a:p>
            <a:pPr algn="l">
              <a:lnSpc>
                <a:spcPts val="2536"/>
              </a:lnSpc>
            </a:pPr>
            <a:r>
              <a:rPr lang="en-US" b="true" sz="1800">
                <a:solidFill>
                  <a:srgbClr val="424242"/>
                </a:solidFill>
                <a:latin typeface="Poppins Bold"/>
                <a:ea typeface="Poppins Bold"/>
                <a:cs typeface="Poppins Bold"/>
                <a:sym typeface="Poppins Bold"/>
              </a:rPr>
              <a:t>Importing Pandas and Matplotlib</a:t>
            </a:r>
          </a:p>
        </p:txBody>
      </p:sp>
      <p:sp>
        <p:nvSpPr>
          <p:cNvPr name="TextBox 7" id="7"/>
          <p:cNvSpPr txBox="true"/>
          <p:nvPr/>
        </p:nvSpPr>
        <p:spPr>
          <a:xfrm rot="0">
            <a:off x="1169299" y="5047898"/>
            <a:ext cx="55340" cy="301628"/>
          </a:xfrm>
          <a:prstGeom prst="rect">
            <a:avLst/>
          </a:prstGeom>
        </p:spPr>
        <p:txBody>
          <a:bodyPr anchor="t" rtlCol="false" tIns="0" lIns="0" bIns="0" rIns="0">
            <a:spAutoFit/>
          </a:bodyPr>
          <a:lstStyle/>
          <a:p>
            <a:pPr algn="l">
              <a:lnSpc>
                <a:spcPts val="2254"/>
              </a:lnSpc>
            </a:pPr>
            <a:r>
              <a:rPr lang="en-US" sz="1600">
                <a:solidFill>
                  <a:srgbClr val="424242"/>
                </a:solidFill>
                <a:latin typeface="Poppins"/>
                <a:ea typeface="Poppins"/>
                <a:cs typeface="Poppins"/>
                <a:sym typeface="Poppins"/>
              </a:rPr>
              <a:t> </a:t>
            </a:r>
          </a:p>
        </p:txBody>
      </p:sp>
      <p:sp>
        <p:nvSpPr>
          <p:cNvPr name="TextBox 8" id="8"/>
          <p:cNvSpPr txBox="true"/>
          <p:nvPr/>
        </p:nvSpPr>
        <p:spPr>
          <a:xfrm rot="0">
            <a:off x="929326" y="1861671"/>
            <a:ext cx="10250653" cy="1172518"/>
          </a:xfrm>
          <a:prstGeom prst="rect">
            <a:avLst/>
          </a:prstGeom>
        </p:spPr>
        <p:txBody>
          <a:bodyPr anchor="t" rtlCol="false" tIns="0" lIns="0" bIns="0" rIns="0">
            <a:spAutoFit/>
          </a:bodyPr>
          <a:lstStyle/>
          <a:p>
            <a:pPr algn="l">
              <a:lnSpc>
                <a:spcPts val="2520"/>
              </a:lnSpc>
            </a:pPr>
            <a:r>
              <a:rPr lang="en-US" b="true" sz="1800">
                <a:solidFill>
                  <a:srgbClr val="424242"/>
                </a:solidFill>
                <a:latin typeface="Poppins Bold"/>
                <a:ea typeface="Poppins Bold"/>
                <a:cs typeface="Poppins Bold"/>
                <a:sym typeface="Poppins Bold"/>
              </a:rPr>
              <a:t>Installing Python and required libraries</a:t>
            </a:r>
          </a:p>
          <a:p>
            <a:pPr algn="l">
              <a:lnSpc>
                <a:spcPts val="2208"/>
              </a:lnSpc>
            </a:pPr>
            <a:r>
              <a:rPr lang="en-US" sz="1600">
                <a:solidFill>
                  <a:srgbClr val="424242"/>
                </a:solidFill>
                <a:latin typeface="Poppins"/>
                <a:ea typeface="Poppins"/>
                <a:cs typeface="Poppins"/>
                <a:sym typeface="Poppins"/>
              </a:rPr>
              <a:t>Begin by installing Python through the Anaconda distribution or directly from Python.org. Once installed, add the essential libraries Pandas and Matplotlib using pip or conda package managers. These libraries form the backbone of data analysis workflows in Python.</a:t>
            </a:r>
          </a:p>
        </p:txBody>
      </p:sp>
      <p:sp>
        <p:nvSpPr>
          <p:cNvPr name="TextBox 9" id="9"/>
          <p:cNvSpPr txBox="true"/>
          <p:nvPr/>
        </p:nvSpPr>
        <p:spPr>
          <a:xfrm rot="0">
            <a:off x="929326" y="5047898"/>
            <a:ext cx="10083803" cy="301628"/>
          </a:xfrm>
          <a:prstGeom prst="rect">
            <a:avLst/>
          </a:prstGeom>
        </p:spPr>
        <p:txBody>
          <a:bodyPr anchor="t" rtlCol="false" tIns="0" lIns="0" bIns="0" rIns="0">
            <a:spAutoFit/>
          </a:bodyPr>
          <a:lstStyle/>
          <a:p>
            <a:pPr algn="l">
              <a:lnSpc>
                <a:spcPts val="2208"/>
              </a:lnSpc>
            </a:pPr>
            <a:r>
              <a:rPr lang="en-US" sz="1600">
                <a:solidFill>
                  <a:srgbClr val="424242"/>
                </a:solidFill>
                <a:latin typeface="Poppins"/>
                <a:ea typeface="Poppins"/>
                <a:cs typeface="Poppins"/>
                <a:sym typeface="Poppins"/>
              </a:rPr>
              <a:t>Tostart working withthese libraries, import them at the beginning of your script or notebook with: </a:t>
            </a:r>
          </a:p>
        </p:txBody>
      </p:sp>
      <p:sp>
        <p:nvSpPr>
          <p:cNvPr name="TextBox 10" id="10"/>
          <p:cNvSpPr txBox="true"/>
          <p:nvPr/>
        </p:nvSpPr>
        <p:spPr>
          <a:xfrm rot="0">
            <a:off x="929326" y="5328314"/>
            <a:ext cx="10500617" cy="582044"/>
          </a:xfrm>
          <a:prstGeom prst="rect">
            <a:avLst/>
          </a:prstGeom>
        </p:spPr>
        <p:txBody>
          <a:bodyPr anchor="t" rtlCol="false" tIns="0" lIns="0" bIns="0" rIns="0">
            <a:spAutoFit/>
          </a:bodyPr>
          <a:lstStyle/>
          <a:p>
            <a:pPr algn="l">
              <a:lnSpc>
                <a:spcPts val="2208"/>
              </a:lnSpc>
            </a:pPr>
            <a:r>
              <a:rPr lang="en-US" sz="1600">
                <a:solidFill>
                  <a:srgbClr val="424242"/>
                </a:solidFill>
                <a:latin typeface="Poppins"/>
                <a:ea typeface="Poppins"/>
                <a:cs typeface="Poppins"/>
                <a:sym typeface="Poppins"/>
              </a:rPr>
              <a:t>`import pandas as pd` and `import matplotlib.pyplot as plt`. This convention simplifies referencing the libraries and streamlines your coding process.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2F2F2"/>
        </a:solidFill>
      </p:bgPr>
    </p:bg>
    <p:spTree>
      <p:nvGrpSpPr>
        <p:cNvPr id="1" name=""/>
        <p:cNvGrpSpPr/>
        <p:nvPr/>
      </p:nvGrpSpPr>
      <p:grpSpPr>
        <a:xfrm>
          <a:off x="0" y="0"/>
          <a:ext cx="0" cy="0"/>
          <a:chOff x="0" y="0"/>
          <a:chExt cx="0" cy="0"/>
        </a:xfrm>
      </p:grpSpPr>
      <p:sp>
        <p:nvSpPr>
          <p:cNvPr name="Freeform 2" id="2"/>
          <p:cNvSpPr/>
          <p:nvPr/>
        </p:nvSpPr>
        <p:spPr>
          <a:xfrm flipH="false" flipV="false" rot="0">
            <a:off x="780098" y="-62608"/>
            <a:ext cx="11475406" cy="6915521"/>
          </a:xfrm>
          <a:custGeom>
            <a:avLst/>
            <a:gdLst/>
            <a:ahLst/>
            <a:cxnLst/>
            <a:rect r="r" b="b" t="t" l="l"/>
            <a:pathLst>
              <a:path h="6915521" w="11475406">
                <a:moveTo>
                  <a:pt x="0" y="0"/>
                </a:moveTo>
                <a:lnTo>
                  <a:pt x="11475405" y="0"/>
                </a:lnTo>
                <a:lnTo>
                  <a:pt x="11475405" y="6915522"/>
                </a:lnTo>
                <a:lnTo>
                  <a:pt x="0" y="69155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931126" y="396821"/>
            <a:ext cx="9356722" cy="676275"/>
          </a:xfrm>
          <a:prstGeom prst="rect">
            <a:avLst/>
          </a:prstGeom>
        </p:spPr>
        <p:txBody>
          <a:bodyPr anchor="t" rtlCol="false" tIns="0" lIns="0" bIns="0" rIns="0">
            <a:spAutoFit/>
          </a:bodyPr>
          <a:lstStyle/>
          <a:p>
            <a:pPr algn="l">
              <a:lnSpc>
                <a:spcPts val="5040"/>
              </a:lnSpc>
            </a:pPr>
            <a:r>
              <a:rPr lang="en-US" sz="3600">
                <a:solidFill>
                  <a:srgbClr val="424242"/>
                </a:solidFill>
                <a:latin typeface="Poppins"/>
                <a:ea typeface="Poppins"/>
                <a:cs typeface="Poppins"/>
                <a:sym typeface="Poppins"/>
              </a:rPr>
              <a:t>Loading and Exploring Data with Pandas</a:t>
            </a:r>
          </a:p>
        </p:txBody>
      </p:sp>
      <p:sp>
        <p:nvSpPr>
          <p:cNvPr name="TextBox 4" id="4"/>
          <p:cNvSpPr txBox="true"/>
          <p:nvPr/>
        </p:nvSpPr>
        <p:spPr>
          <a:xfrm rot="0">
            <a:off x="929326" y="4735935"/>
            <a:ext cx="2726017" cy="342900"/>
          </a:xfrm>
          <a:prstGeom prst="rect">
            <a:avLst/>
          </a:prstGeom>
        </p:spPr>
        <p:txBody>
          <a:bodyPr anchor="t" rtlCol="false" tIns="0" lIns="0" bIns="0" rIns="0">
            <a:spAutoFit/>
          </a:bodyPr>
          <a:lstStyle/>
          <a:p>
            <a:pPr algn="l">
              <a:lnSpc>
                <a:spcPts val="2536"/>
              </a:lnSpc>
            </a:pPr>
            <a:r>
              <a:rPr lang="en-US" b="true" sz="1800">
                <a:solidFill>
                  <a:srgbClr val="424242"/>
                </a:solidFill>
                <a:latin typeface="Poppins Bold"/>
                <a:ea typeface="Poppins Bold"/>
                <a:cs typeface="Poppins Bold"/>
                <a:sym typeface="Poppins Bold"/>
              </a:rPr>
              <a:t>Handling missing data</a:t>
            </a:r>
          </a:p>
        </p:txBody>
      </p:sp>
      <p:sp>
        <p:nvSpPr>
          <p:cNvPr name="TextBox 5" id="5"/>
          <p:cNvSpPr txBox="true"/>
          <p:nvPr/>
        </p:nvSpPr>
        <p:spPr>
          <a:xfrm rot="0">
            <a:off x="3225489" y="5047898"/>
            <a:ext cx="55340" cy="301628"/>
          </a:xfrm>
          <a:prstGeom prst="rect">
            <a:avLst/>
          </a:prstGeom>
        </p:spPr>
        <p:txBody>
          <a:bodyPr anchor="t" rtlCol="false" tIns="0" lIns="0" bIns="0" rIns="0">
            <a:spAutoFit/>
          </a:bodyPr>
          <a:lstStyle/>
          <a:p>
            <a:pPr algn="l">
              <a:lnSpc>
                <a:spcPts val="2254"/>
              </a:lnSpc>
            </a:pPr>
            <a:r>
              <a:rPr lang="en-US" sz="1600">
                <a:solidFill>
                  <a:srgbClr val="424242"/>
                </a:solidFill>
                <a:latin typeface="Poppins"/>
                <a:ea typeface="Poppins"/>
                <a:cs typeface="Poppins"/>
                <a:sym typeface="Poppins"/>
              </a:rPr>
              <a:t> </a:t>
            </a:r>
          </a:p>
        </p:txBody>
      </p:sp>
      <p:sp>
        <p:nvSpPr>
          <p:cNvPr name="TextBox 6" id="6"/>
          <p:cNvSpPr txBox="true"/>
          <p:nvPr/>
        </p:nvSpPr>
        <p:spPr>
          <a:xfrm rot="0">
            <a:off x="929326" y="1861671"/>
            <a:ext cx="6263935" cy="342900"/>
          </a:xfrm>
          <a:prstGeom prst="rect">
            <a:avLst/>
          </a:prstGeom>
        </p:spPr>
        <p:txBody>
          <a:bodyPr anchor="t" rtlCol="false" tIns="0" lIns="0" bIns="0" rIns="0">
            <a:spAutoFit/>
          </a:bodyPr>
          <a:lstStyle/>
          <a:p>
            <a:pPr algn="l">
              <a:lnSpc>
                <a:spcPts val="2536"/>
              </a:lnSpc>
            </a:pPr>
            <a:r>
              <a:rPr lang="en-US" b="true" sz="1800">
                <a:solidFill>
                  <a:srgbClr val="424242"/>
                </a:solidFill>
                <a:latin typeface="Poppins Bold"/>
                <a:ea typeface="Poppins Bold"/>
                <a:cs typeface="Poppins Bold"/>
                <a:sym typeface="Poppins Bold"/>
              </a:rPr>
              <a:t>Loading datasets from CSV, Excel, and other sources</a:t>
            </a:r>
          </a:p>
        </p:txBody>
      </p:sp>
      <p:sp>
        <p:nvSpPr>
          <p:cNvPr name="TextBox 7" id="7"/>
          <p:cNvSpPr txBox="true"/>
          <p:nvPr/>
        </p:nvSpPr>
        <p:spPr>
          <a:xfrm rot="0">
            <a:off x="4254694" y="2173634"/>
            <a:ext cx="55340" cy="301628"/>
          </a:xfrm>
          <a:prstGeom prst="rect">
            <a:avLst/>
          </a:prstGeom>
        </p:spPr>
        <p:txBody>
          <a:bodyPr anchor="t" rtlCol="false" tIns="0" lIns="0" bIns="0" rIns="0">
            <a:spAutoFit/>
          </a:bodyPr>
          <a:lstStyle/>
          <a:p>
            <a:pPr algn="l">
              <a:lnSpc>
                <a:spcPts val="2254"/>
              </a:lnSpc>
            </a:pPr>
            <a:r>
              <a:rPr lang="en-US" sz="1600">
                <a:solidFill>
                  <a:srgbClr val="424242"/>
                </a:solidFill>
                <a:latin typeface="Poppins"/>
                <a:ea typeface="Poppins"/>
                <a:cs typeface="Poppins"/>
                <a:sym typeface="Poppins"/>
              </a:rPr>
              <a:t> </a:t>
            </a:r>
          </a:p>
        </p:txBody>
      </p:sp>
      <p:sp>
        <p:nvSpPr>
          <p:cNvPr name="TextBox 8" id="8"/>
          <p:cNvSpPr txBox="true"/>
          <p:nvPr/>
        </p:nvSpPr>
        <p:spPr>
          <a:xfrm rot="0">
            <a:off x="929326" y="3298803"/>
            <a:ext cx="6705562" cy="342900"/>
          </a:xfrm>
          <a:prstGeom prst="rect">
            <a:avLst/>
          </a:prstGeom>
        </p:spPr>
        <p:txBody>
          <a:bodyPr anchor="t" rtlCol="false" tIns="0" lIns="0" bIns="0" rIns="0">
            <a:spAutoFit/>
          </a:bodyPr>
          <a:lstStyle/>
          <a:p>
            <a:pPr algn="l">
              <a:lnSpc>
                <a:spcPts val="2536"/>
              </a:lnSpc>
            </a:pPr>
            <a:r>
              <a:rPr lang="en-US" b="true" sz="1800">
                <a:solidFill>
                  <a:srgbClr val="424242"/>
                </a:solidFill>
                <a:latin typeface="Poppins Bold"/>
                <a:ea typeface="Poppins Bold"/>
                <a:cs typeface="Poppins Bold"/>
                <a:sym typeface="Poppins Bold"/>
              </a:rPr>
              <a:t>Inspecting data structure with head(), info(), describe()</a:t>
            </a:r>
          </a:p>
        </p:txBody>
      </p:sp>
      <p:sp>
        <p:nvSpPr>
          <p:cNvPr name="TextBox 9" id="9"/>
          <p:cNvSpPr txBox="true"/>
          <p:nvPr/>
        </p:nvSpPr>
        <p:spPr>
          <a:xfrm rot="0">
            <a:off x="1298534" y="3610766"/>
            <a:ext cx="55340" cy="301628"/>
          </a:xfrm>
          <a:prstGeom prst="rect">
            <a:avLst/>
          </a:prstGeom>
        </p:spPr>
        <p:txBody>
          <a:bodyPr anchor="t" rtlCol="false" tIns="0" lIns="0" bIns="0" rIns="0">
            <a:spAutoFit/>
          </a:bodyPr>
          <a:lstStyle/>
          <a:p>
            <a:pPr algn="l">
              <a:lnSpc>
                <a:spcPts val="2254"/>
              </a:lnSpc>
            </a:pPr>
            <a:r>
              <a:rPr lang="en-US" sz="1600">
                <a:solidFill>
                  <a:srgbClr val="424242"/>
                </a:solidFill>
                <a:latin typeface="Poppins"/>
                <a:ea typeface="Poppins"/>
                <a:cs typeface="Poppins"/>
                <a:sym typeface="Poppins"/>
              </a:rPr>
              <a:t> </a:t>
            </a:r>
          </a:p>
        </p:txBody>
      </p:sp>
      <p:sp>
        <p:nvSpPr>
          <p:cNvPr name="TextBox 10" id="10"/>
          <p:cNvSpPr txBox="true"/>
          <p:nvPr/>
        </p:nvSpPr>
        <p:spPr>
          <a:xfrm rot="0">
            <a:off x="929326" y="5047898"/>
            <a:ext cx="10348274" cy="301628"/>
          </a:xfrm>
          <a:prstGeom prst="rect">
            <a:avLst/>
          </a:prstGeom>
        </p:spPr>
        <p:txBody>
          <a:bodyPr anchor="t" rtlCol="false" tIns="0" lIns="0" bIns="0" rIns="0">
            <a:spAutoFit/>
          </a:bodyPr>
          <a:lstStyle/>
          <a:p>
            <a:pPr algn="l">
              <a:lnSpc>
                <a:spcPts val="2208"/>
              </a:lnSpc>
            </a:pPr>
            <a:r>
              <a:rPr lang="en-US" sz="1600">
                <a:solidFill>
                  <a:srgbClr val="424242"/>
                </a:solidFill>
                <a:latin typeface="Poppins"/>
                <a:ea typeface="Poppins"/>
                <a:cs typeface="Poppins"/>
                <a:sym typeface="Poppins"/>
              </a:rPr>
              <a:t>Handling missing datais crucial for accurate analysis. Pandas offers methods such as `dropna()` to </a:t>
            </a:r>
          </a:p>
        </p:txBody>
      </p:sp>
      <p:sp>
        <p:nvSpPr>
          <p:cNvPr name="TextBox 11" id="11"/>
          <p:cNvSpPr txBox="true"/>
          <p:nvPr/>
        </p:nvSpPr>
        <p:spPr>
          <a:xfrm rot="0">
            <a:off x="929326" y="5328314"/>
            <a:ext cx="10346407" cy="582044"/>
          </a:xfrm>
          <a:prstGeom prst="rect">
            <a:avLst/>
          </a:prstGeom>
        </p:spPr>
        <p:txBody>
          <a:bodyPr anchor="t" rtlCol="false" tIns="0" lIns="0" bIns="0" rIns="0">
            <a:spAutoFit/>
          </a:bodyPr>
          <a:lstStyle/>
          <a:p>
            <a:pPr algn="l">
              <a:lnSpc>
                <a:spcPts val="2208"/>
              </a:lnSpc>
            </a:pPr>
            <a:r>
              <a:rPr lang="en-US" sz="1600">
                <a:solidFill>
                  <a:srgbClr val="424242"/>
                </a:solidFill>
                <a:latin typeface="Poppins"/>
                <a:ea typeface="Poppins"/>
                <a:cs typeface="Poppins"/>
                <a:sym typeface="Poppins"/>
              </a:rPr>
              <a:t>remove incomplete entries and `fillna()` to replace missing values with meaningful statistics like the mean or median. Proper handling ensures reliable insights from your dataset.</a:t>
            </a:r>
          </a:p>
        </p:txBody>
      </p:sp>
      <p:sp>
        <p:nvSpPr>
          <p:cNvPr name="TextBox 12" id="12"/>
          <p:cNvSpPr txBox="true"/>
          <p:nvPr/>
        </p:nvSpPr>
        <p:spPr>
          <a:xfrm rot="0">
            <a:off x="929326" y="2173634"/>
            <a:ext cx="10222468" cy="301628"/>
          </a:xfrm>
          <a:prstGeom prst="rect">
            <a:avLst/>
          </a:prstGeom>
        </p:spPr>
        <p:txBody>
          <a:bodyPr anchor="t" rtlCol="false" tIns="0" lIns="0" bIns="0" rIns="0">
            <a:spAutoFit/>
          </a:bodyPr>
          <a:lstStyle/>
          <a:p>
            <a:pPr algn="l">
              <a:lnSpc>
                <a:spcPts val="2208"/>
              </a:lnSpc>
            </a:pPr>
            <a:r>
              <a:rPr lang="en-US" sz="1600">
                <a:solidFill>
                  <a:srgbClr val="424242"/>
                </a:solidFill>
                <a:latin typeface="Poppins"/>
                <a:ea typeface="Poppins"/>
                <a:cs typeface="Poppins"/>
                <a:sym typeface="Poppins"/>
              </a:rPr>
              <a:t>Pandas provides straightforwardfunctionssuchas `read_csv()`, `read_excel()`, and others to load </a:t>
            </a:r>
          </a:p>
        </p:txBody>
      </p:sp>
      <p:sp>
        <p:nvSpPr>
          <p:cNvPr name="TextBox 13" id="13"/>
          <p:cNvSpPr txBox="true"/>
          <p:nvPr/>
        </p:nvSpPr>
        <p:spPr>
          <a:xfrm rot="0">
            <a:off x="929326" y="2454050"/>
            <a:ext cx="10516362" cy="582044"/>
          </a:xfrm>
          <a:prstGeom prst="rect">
            <a:avLst/>
          </a:prstGeom>
        </p:spPr>
        <p:txBody>
          <a:bodyPr anchor="t" rtlCol="false" tIns="0" lIns="0" bIns="0" rIns="0">
            <a:spAutoFit/>
          </a:bodyPr>
          <a:lstStyle/>
          <a:p>
            <a:pPr algn="l">
              <a:lnSpc>
                <a:spcPts val="2208"/>
              </a:lnSpc>
            </a:pPr>
            <a:r>
              <a:rPr lang="en-US" sz="1600">
                <a:solidFill>
                  <a:srgbClr val="424242"/>
                </a:solidFill>
                <a:latin typeface="Poppins"/>
                <a:ea typeface="Poppins"/>
                <a:cs typeface="Poppins"/>
                <a:sym typeface="Poppins"/>
              </a:rPr>
              <a:t>datasets from various file formats. These functions import your data into a DataFrame, enabling easy manipulation and analysis.</a:t>
            </a:r>
          </a:p>
        </p:txBody>
      </p:sp>
      <p:sp>
        <p:nvSpPr>
          <p:cNvPr name="TextBox 14" id="14"/>
          <p:cNvSpPr txBox="true"/>
          <p:nvPr/>
        </p:nvSpPr>
        <p:spPr>
          <a:xfrm rot="0">
            <a:off x="929326" y="3610766"/>
            <a:ext cx="10125675" cy="301628"/>
          </a:xfrm>
          <a:prstGeom prst="rect">
            <a:avLst/>
          </a:prstGeom>
        </p:spPr>
        <p:txBody>
          <a:bodyPr anchor="t" rtlCol="false" tIns="0" lIns="0" bIns="0" rIns="0">
            <a:spAutoFit/>
          </a:bodyPr>
          <a:lstStyle/>
          <a:p>
            <a:pPr algn="l">
              <a:lnSpc>
                <a:spcPts val="2208"/>
              </a:lnSpc>
            </a:pPr>
            <a:r>
              <a:rPr lang="en-US" sz="1600">
                <a:solidFill>
                  <a:srgbClr val="424242"/>
                </a:solidFill>
                <a:latin typeface="Poppins"/>
                <a:ea typeface="Poppins"/>
                <a:cs typeface="Poppins"/>
                <a:sym typeface="Poppins"/>
              </a:rPr>
              <a:t>Use`head()` to view thefirstfew rows ofyour dataset,`info()` toget a summary of data types and </a:t>
            </a:r>
          </a:p>
        </p:txBody>
      </p:sp>
      <p:sp>
        <p:nvSpPr>
          <p:cNvPr name="TextBox 15" id="15"/>
          <p:cNvSpPr txBox="true"/>
          <p:nvPr/>
        </p:nvSpPr>
        <p:spPr>
          <a:xfrm rot="0">
            <a:off x="929326" y="3891182"/>
            <a:ext cx="10509942" cy="582044"/>
          </a:xfrm>
          <a:prstGeom prst="rect">
            <a:avLst/>
          </a:prstGeom>
        </p:spPr>
        <p:txBody>
          <a:bodyPr anchor="t" rtlCol="false" tIns="0" lIns="0" bIns="0" rIns="0">
            <a:spAutoFit/>
          </a:bodyPr>
          <a:lstStyle/>
          <a:p>
            <a:pPr algn="l">
              <a:lnSpc>
                <a:spcPts val="2208"/>
              </a:lnSpc>
            </a:pPr>
            <a:r>
              <a:rPr lang="en-US" sz="1600">
                <a:solidFill>
                  <a:srgbClr val="424242"/>
                </a:solidFill>
                <a:latin typeface="Poppins"/>
                <a:ea typeface="Poppins"/>
                <a:cs typeface="Poppins"/>
                <a:sym typeface="Poppins"/>
              </a:rPr>
              <a:t>non-null counts, and `describe()` to analyze key statistics like mean, median, and standard deviation. These tools help you understand your data’s shape and contents quickly.</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595959"/>
        </a:solidFill>
      </p:bgPr>
    </p:bg>
    <p:spTree>
      <p:nvGrpSpPr>
        <p:cNvPr id="1" name=""/>
        <p:cNvGrpSpPr/>
        <p:nvPr/>
      </p:nvGrpSpPr>
      <p:grpSpPr>
        <a:xfrm>
          <a:off x="0" y="0"/>
          <a:ext cx="0" cy="0"/>
          <a:chOff x="0" y="0"/>
          <a:chExt cx="0" cy="0"/>
        </a:xfrm>
      </p:grpSpPr>
      <p:sp>
        <p:nvSpPr>
          <p:cNvPr name="Freeform 2" id="2"/>
          <p:cNvSpPr/>
          <p:nvPr/>
        </p:nvSpPr>
        <p:spPr>
          <a:xfrm flipH="false" flipV="false" rot="0">
            <a:off x="7544057" y="-62608"/>
            <a:ext cx="4711446" cy="6874278"/>
          </a:xfrm>
          <a:custGeom>
            <a:avLst/>
            <a:gdLst/>
            <a:ahLst/>
            <a:cxnLst/>
            <a:rect r="r" b="b" t="t" l="l"/>
            <a:pathLst>
              <a:path h="6874278" w="4711446">
                <a:moveTo>
                  <a:pt x="0" y="0"/>
                </a:moveTo>
                <a:lnTo>
                  <a:pt x="4711446" y="0"/>
                </a:lnTo>
                <a:lnTo>
                  <a:pt x="4711446" y="6874278"/>
                </a:lnTo>
                <a:lnTo>
                  <a:pt x="0" y="68742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607560" y="1285046"/>
            <a:ext cx="3114675" cy="3710397"/>
          </a:xfrm>
          <a:custGeom>
            <a:avLst/>
            <a:gdLst/>
            <a:ahLst/>
            <a:cxnLst/>
            <a:rect r="r" b="b" t="t" l="l"/>
            <a:pathLst>
              <a:path h="3710397" w="3114675">
                <a:moveTo>
                  <a:pt x="0" y="0"/>
                </a:moveTo>
                <a:lnTo>
                  <a:pt x="3114675" y="0"/>
                </a:lnTo>
                <a:lnTo>
                  <a:pt x="3114675" y="3710397"/>
                </a:lnTo>
                <a:lnTo>
                  <a:pt x="0" y="3710397"/>
                </a:lnTo>
                <a:lnTo>
                  <a:pt x="0" y="0"/>
                </a:lnTo>
                <a:close/>
              </a:path>
            </a:pathLst>
          </a:custGeom>
          <a:blipFill>
            <a:blip r:embed="rId4"/>
            <a:stretch>
              <a:fillRect l="-55840" t="0" r="-55840" b="0"/>
            </a:stretch>
          </a:blipFill>
        </p:spPr>
      </p:sp>
      <p:sp>
        <p:nvSpPr>
          <p:cNvPr name="Freeform 4" id="4"/>
          <p:cNvSpPr/>
          <p:nvPr/>
        </p:nvSpPr>
        <p:spPr>
          <a:xfrm flipH="false" flipV="false" rot="0">
            <a:off x="843601" y="1428750"/>
            <a:ext cx="6614579" cy="4752975"/>
          </a:xfrm>
          <a:custGeom>
            <a:avLst/>
            <a:gdLst/>
            <a:ahLst/>
            <a:cxnLst/>
            <a:rect r="r" b="b" t="t" l="l"/>
            <a:pathLst>
              <a:path h="4752975" w="6614579">
                <a:moveTo>
                  <a:pt x="0" y="0"/>
                </a:moveTo>
                <a:lnTo>
                  <a:pt x="6614579" y="0"/>
                </a:lnTo>
                <a:lnTo>
                  <a:pt x="6614579" y="4752975"/>
                </a:lnTo>
                <a:lnTo>
                  <a:pt x="0" y="47529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843601" y="369475"/>
            <a:ext cx="10521858" cy="899827"/>
          </a:xfrm>
          <a:custGeom>
            <a:avLst/>
            <a:gdLst/>
            <a:ahLst/>
            <a:cxnLst/>
            <a:rect r="r" b="b" t="t" l="l"/>
            <a:pathLst>
              <a:path h="899827" w="10521858">
                <a:moveTo>
                  <a:pt x="0" y="0"/>
                </a:moveTo>
                <a:lnTo>
                  <a:pt x="10521858" y="0"/>
                </a:lnTo>
                <a:lnTo>
                  <a:pt x="10521858" y="899827"/>
                </a:lnTo>
                <a:lnTo>
                  <a:pt x="0" y="89982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0669714" y="6503670"/>
            <a:ext cx="1400175" cy="285750"/>
          </a:xfrm>
          <a:custGeom>
            <a:avLst/>
            <a:gdLst/>
            <a:ahLst/>
            <a:cxnLst/>
            <a:rect r="r" b="b" t="t" l="l"/>
            <a:pathLst>
              <a:path h="285750" w="1400175">
                <a:moveTo>
                  <a:pt x="0" y="0"/>
                </a:moveTo>
                <a:lnTo>
                  <a:pt x="1400176" y="0"/>
                </a:lnTo>
                <a:lnTo>
                  <a:pt x="1400176" y="285750"/>
                </a:lnTo>
                <a:lnTo>
                  <a:pt x="0" y="28575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7" id="7"/>
          <p:cNvSpPr txBox="true"/>
          <p:nvPr/>
        </p:nvSpPr>
        <p:spPr>
          <a:xfrm rot="0">
            <a:off x="929326" y="401174"/>
            <a:ext cx="7272633" cy="1369476"/>
          </a:xfrm>
          <a:prstGeom prst="rect">
            <a:avLst/>
          </a:prstGeom>
        </p:spPr>
        <p:txBody>
          <a:bodyPr anchor="t" rtlCol="false" tIns="0" lIns="0" bIns="0" rIns="0">
            <a:spAutoFit/>
          </a:bodyPr>
          <a:lstStyle/>
          <a:p>
            <a:pPr algn="l">
              <a:lnSpc>
                <a:spcPts val="5040"/>
              </a:lnSpc>
            </a:pPr>
            <a:r>
              <a:rPr lang="en-US" sz="3600">
                <a:solidFill>
                  <a:srgbClr val="FFFFFF"/>
                </a:solidFill>
                <a:latin typeface="Poppins"/>
                <a:ea typeface="Poppins"/>
                <a:cs typeface="Poppins"/>
                <a:sym typeface="Poppins"/>
              </a:rPr>
              <a:t>Data Cleaning and Preparation</a:t>
            </a:r>
          </a:p>
          <a:p>
            <a:pPr algn="l">
              <a:lnSpc>
                <a:spcPts val="2398"/>
              </a:lnSpc>
            </a:pPr>
            <a:r>
              <a:rPr lang="en-US" b="true" sz="1700">
                <a:solidFill>
                  <a:srgbClr val="FFFFFF"/>
                </a:solidFill>
                <a:latin typeface="Poppins Bold"/>
                <a:ea typeface="Poppins Bold"/>
                <a:cs typeface="Poppins Bold"/>
                <a:sym typeface="Poppins Bold"/>
              </a:rPr>
              <a:t>Filtering and selecting data</a:t>
            </a:r>
          </a:p>
        </p:txBody>
      </p:sp>
      <p:sp>
        <p:nvSpPr>
          <p:cNvPr name="TextBox 8" id="8"/>
          <p:cNvSpPr txBox="true"/>
          <p:nvPr/>
        </p:nvSpPr>
        <p:spPr>
          <a:xfrm rot="0">
            <a:off x="929326" y="3074127"/>
            <a:ext cx="2559148" cy="327022"/>
          </a:xfrm>
          <a:prstGeom prst="rect">
            <a:avLst/>
          </a:prstGeom>
        </p:spPr>
        <p:txBody>
          <a:bodyPr anchor="t" rtlCol="false" tIns="0" lIns="0" bIns="0" rIns="0">
            <a:spAutoFit/>
          </a:bodyPr>
          <a:lstStyle/>
          <a:p>
            <a:pPr algn="l">
              <a:lnSpc>
                <a:spcPts val="2398"/>
              </a:lnSpc>
            </a:pPr>
            <a:r>
              <a:rPr lang="en-US" b="true" sz="1700">
                <a:solidFill>
                  <a:srgbClr val="FFFFFF"/>
                </a:solidFill>
                <a:latin typeface="Poppins Bold"/>
                <a:ea typeface="Poppins Bold"/>
                <a:cs typeface="Poppins Bold"/>
                <a:sym typeface="Poppins Bold"/>
              </a:rPr>
              <a:t>Creating new columns</a:t>
            </a:r>
          </a:p>
        </p:txBody>
      </p:sp>
      <p:sp>
        <p:nvSpPr>
          <p:cNvPr name="TextBox 9" id="9"/>
          <p:cNvSpPr txBox="true"/>
          <p:nvPr/>
        </p:nvSpPr>
        <p:spPr>
          <a:xfrm rot="0">
            <a:off x="2208343" y="3368992"/>
            <a:ext cx="51883" cy="285750"/>
          </a:xfrm>
          <a:prstGeom prst="rect">
            <a:avLst/>
          </a:prstGeom>
        </p:spPr>
        <p:txBody>
          <a:bodyPr anchor="t" rtlCol="false" tIns="0" lIns="0" bIns="0" rIns="0">
            <a:spAutoFit/>
          </a:bodyPr>
          <a:lstStyle/>
          <a:p>
            <a:pPr algn="l">
              <a:lnSpc>
                <a:spcPts val="2116"/>
              </a:lnSpc>
            </a:pPr>
            <a:r>
              <a:rPr lang="en-US" sz="1500">
                <a:solidFill>
                  <a:srgbClr val="FFFFFF"/>
                </a:solidFill>
                <a:latin typeface="Poppins"/>
                <a:ea typeface="Poppins"/>
                <a:cs typeface="Poppins"/>
                <a:sym typeface="Poppins"/>
              </a:rPr>
              <a:t> </a:t>
            </a:r>
          </a:p>
        </p:txBody>
      </p:sp>
      <p:sp>
        <p:nvSpPr>
          <p:cNvPr name="TextBox 10" id="10"/>
          <p:cNvSpPr txBox="true"/>
          <p:nvPr/>
        </p:nvSpPr>
        <p:spPr>
          <a:xfrm rot="0">
            <a:off x="929326" y="4686519"/>
            <a:ext cx="2992765" cy="327022"/>
          </a:xfrm>
          <a:prstGeom prst="rect">
            <a:avLst/>
          </a:prstGeom>
        </p:spPr>
        <p:txBody>
          <a:bodyPr anchor="t" rtlCol="false" tIns="0" lIns="0" bIns="0" rIns="0">
            <a:spAutoFit/>
          </a:bodyPr>
          <a:lstStyle/>
          <a:p>
            <a:pPr algn="l">
              <a:lnSpc>
                <a:spcPts val="2398"/>
              </a:lnSpc>
            </a:pPr>
            <a:r>
              <a:rPr lang="en-US" b="true" sz="1700">
                <a:solidFill>
                  <a:srgbClr val="FFFFFF"/>
                </a:solidFill>
                <a:latin typeface="Poppins Bold"/>
                <a:ea typeface="Poppins Bold"/>
                <a:cs typeface="Poppins Bold"/>
                <a:sym typeface="Poppins Bold"/>
              </a:rPr>
              <a:t>Sorting and grouping data</a:t>
            </a:r>
          </a:p>
        </p:txBody>
      </p:sp>
      <p:sp>
        <p:nvSpPr>
          <p:cNvPr name="TextBox 11" id="11"/>
          <p:cNvSpPr txBox="true"/>
          <p:nvPr/>
        </p:nvSpPr>
        <p:spPr>
          <a:xfrm rot="0">
            <a:off x="2394461" y="4981385"/>
            <a:ext cx="51883" cy="285750"/>
          </a:xfrm>
          <a:prstGeom prst="rect">
            <a:avLst/>
          </a:prstGeom>
        </p:spPr>
        <p:txBody>
          <a:bodyPr anchor="t" rtlCol="false" tIns="0" lIns="0" bIns="0" rIns="0">
            <a:spAutoFit/>
          </a:bodyPr>
          <a:lstStyle/>
          <a:p>
            <a:pPr algn="l">
              <a:lnSpc>
                <a:spcPts val="2116"/>
              </a:lnSpc>
            </a:pPr>
            <a:r>
              <a:rPr lang="en-US" sz="1500">
                <a:solidFill>
                  <a:srgbClr val="FFFFFF"/>
                </a:solidFill>
                <a:latin typeface="Poppins"/>
                <a:ea typeface="Poppins"/>
                <a:cs typeface="Poppins"/>
                <a:sym typeface="Poppins"/>
              </a:rPr>
              <a:t> </a:t>
            </a:r>
          </a:p>
        </p:txBody>
      </p:sp>
      <p:sp>
        <p:nvSpPr>
          <p:cNvPr name="TextBox 12" id="12"/>
          <p:cNvSpPr txBox="true"/>
          <p:nvPr/>
        </p:nvSpPr>
        <p:spPr>
          <a:xfrm rot="0">
            <a:off x="1675133" y="1756601"/>
            <a:ext cx="51883" cy="285750"/>
          </a:xfrm>
          <a:prstGeom prst="rect">
            <a:avLst/>
          </a:prstGeom>
        </p:spPr>
        <p:txBody>
          <a:bodyPr anchor="t" rtlCol="false" tIns="0" lIns="0" bIns="0" rIns="0">
            <a:spAutoFit/>
          </a:bodyPr>
          <a:lstStyle/>
          <a:p>
            <a:pPr algn="l">
              <a:lnSpc>
                <a:spcPts val="2116"/>
              </a:lnSpc>
            </a:pPr>
            <a:r>
              <a:rPr lang="en-US" sz="1500">
                <a:solidFill>
                  <a:srgbClr val="FFFFFF"/>
                </a:solidFill>
                <a:latin typeface="Poppins"/>
                <a:ea typeface="Poppins"/>
                <a:cs typeface="Poppins"/>
                <a:sym typeface="Poppins"/>
              </a:rPr>
              <a:t> </a:t>
            </a:r>
          </a:p>
        </p:txBody>
      </p:sp>
      <p:sp>
        <p:nvSpPr>
          <p:cNvPr name="TextBox 13" id="13"/>
          <p:cNvSpPr txBox="true"/>
          <p:nvPr/>
        </p:nvSpPr>
        <p:spPr>
          <a:xfrm rot="0">
            <a:off x="929326" y="4990910"/>
            <a:ext cx="6313332" cy="276225"/>
          </a:xfrm>
          <a:prstGeom prst="rect">
            <a:avLst/>
          </a:prstGeom>
        </p:spPr>
        <p:txBody>
          <a:bodyPr anchor="t" rtlCol="false" tIns="0" lIns="0" bIns="0" rIns="0">
            <a:spAutoFit/>
          </a:bodyPr>
          <a:lstStyle/>
          <a:p>
            <a:pPr algn="l">
              <a:lnSpc>
                <a:spcPts val="2070"/>
              </a:lnSpc>
            </a:pPr>
            <a:r>
              <a:rPr lang="en-US" sz="1500">
                <a:solidFill>
                  <a:srgbClr val="FFFFFF"/>
                </a:solidFill>
                <a:latin typeface="Poppins"/>
                <a:ea typeface="Poppins"/>
                <a:cs typeface="Poppins"/>
                <a:sym typeface="Poppins"/>
              </a:rPr>
              <a:t>Sorting data byspecific columns helps organize your dataset for </a:t>
            </a:r>
          </a:p>
        </p:txBody>
      </p:sp>
      <p:sp>
        <p:nvSpPr>
          <p:cNvPr name="TextBox 14" id="14"/>
          <p:cNvSpPr txBox="true"/>
          <p:nvPr/>
        </p:nvSpPr>
        <p:spPr>
          <a:xfrm rot="0">
            <a:off x="929326" y="5253800"/>
            <a:ext cx="6345003" cy="802005"/>
          </a:xfrm>
          <a:prstGeom prst="rect">
            <a:avLst/>
          </a:prstGeom>
        </p:spPr>
        <p:txBody>
          <a:bodyPr anchor="t" rtlCol="false" tIns="0" lIns="0" bIns="0" rIns="0">
            <a:spAutoFit/>
          </a:bodyPr>
          <a:lstStyle/>
          <a:p>
            <a:pPr algn="l">
              <a:lnSpc>
                <a:spcPts val="2070"/>
              </a:lnSpc>
            </a:pPr>
            <a:r>
              <a:rPr lang="en-US" sz="1500">
                <a:solidFill>
                  <a:srgbClr val="FFFFFF"/>
                </a:solidFill>
                <a:latin typeface="Poppins"/>
                <a:ea typeface="Poppins"/>
                <a:cs typeface="Poppins"/>
                <a:sym typeface="Poppins"/>
              </a:rPr>
              <a:t>better readability, while grouping data with `groupby()` allows aggregation and summarization—such as calculating total sales per region—enabling targeted insights and comparisons.</a:t>
            </a:r>
          </a:p>
        </p:txBody>
      </p:sp>
      <p:sp>
        <p:nvSpPr>
          <p:cNvPr name="TextBox 15" id="15"/>
          <p:cNvSpPr txBox="true"/>
          <p:nvPr/>
        </p:nvSpPr>
        <p:spPr>
          <a:xfrm rot="0">
            <a:off x="929326" y="1766126"/>
            <a:ext cx="6239104" cy="276225"/>
          </a:xfrm>
          <a:prstGeom prst="rect">
            <a:avLst/>
          </a:prstGeom>
        </p:spPr>
        <p:txBody>
          <a:bodyPr anchor="t" rtlCol="false" tIns="0" lIns="0" bIns="0" rIns="0">
            <a:spAutoFit/>
          </a:bodyPr>
          <a:lstStyle/>
          <a:p>
            <a:pPr algn="l">
              <a:lnSpc>
                <a:spcPts val="2070"/>
              </a:lnSpc>
            </a:pPr>
            <a:r>
              <a:rPr lang="en-US" sz="1500">
                <a:solidFill>
                  <a:srgbClr val="FFFFFF"/>
                </a:solidFill>
                <a:latin typeface="Poppins"/>
                <a:ea typeface="Poppins"/>
                <a:cs typeface="Poppins"/>
                <a:sym typeface="Poppins"/>
              </a:rPr>
              <a:t>Filteringallowsyou toextractrelevant subsets of data based on </a:t>
            </a:r>
          </a:p>
        </p:txBody>
      </p:sp>
      <p:sp>
        <p:nvSpPr>
          <p:cNvPr name="TextBox 16" id="16"/>
          <p:cNvSpPr txBox="true"/>
          <p:nvPr/>
        </p:nvSpPr>
        <p:spPr>
          <a:xfrm rot="0">
            <a:off x="929326" y="2029016"/>
            <a:ext cx="6508804" cy="802005"/>
          </a:xfrm>
          <a:prstGeom prst="rect">
            <a:avLst/>
          </a:prstGeom>
        </p:spPr>
        <p:txBody>
          <a:bodyPr anchor="t" rtlCol="false" tIns="0" lIns="0" bIns="0" rIns="0">
            <a:spAutoFit/>
          </a:bodyPr>
          <a:lstStyle/>
          <a:p>
            <a:pPr algn="l">
              <a:lnSpc>
                <a:spcPts val="2070"/>
              </a:lnSpc>
            </a:pPr>
            <a:r>
              <a:rPr lang="en-US" sz="1500">
                <a:solidFill>
                  <a:srgbClr val="FFFFFF"/>
                </a:solidFill>
                <a:latin typeface="Poppins"/>
                <a:ea typeface="Poppins"/>
                <a:cs typeface="Poppins"/>
                <a:sym typeface="Poppins"/>
              </a:rPr>
              <a:t>conditions using boolean indexing. Selection methods like `.loc[]` and `.iloc[]` enable precise access to rows and columns, preparing your data for specific analyses.</a:t>
            </a:r>
          </a:p>
        </p:txBody>
      </p:sp>
      <p:sp>
        <p:nvSpPr>
          <p:cNvPr name="TextBox 17" id="17"/>
          <p:cNvSpPr txBox="true"/>
          <p:nvPr/>
        </p:nvSpPr>
        <p:spPr>
          <a:xfrm rot="0">
            <a:off x="929326" y="3378517"/>
            <a:ext cx="5479352" cy="276225"/>
          </a:xfrm>
          <a:prstGeom prst="rect">
            <a:avLst/>
          </a:prstGeom>
        </p:spPr>
        <p:txBody>
          <a:bodyPr anchor="t" rtlCol="false" tIns="0" lIns="0" bIns="0" rIns="0">
            <a:spAutoFit/>
          </a:bodyPr>
          <a:lstStyle/>
          <a:p>
            <a:pPr algn="l">
              <a:lnSpc>
                <a:spcPts val="2070"/>
              </a:lnSpc>
            </a:pPr>
            <a:r>
              <a:rPr lang="en-US" sz="1500">
                <a:solidFill>
                  <a:srgbClr val="FFFFFF"/>
                </a:solidFill>
                <a:latin typeface="Poppins"/>
                <a:ea typeface="Poppins"/>
                <a:cs typeface="Poppins"/>
                <a:sym typeface="Poppins"/>
              </a:rPr>
              <a:t>Creating newcolumns involves applying calculations or </a:t>
            </a:r>
          </a:p>
        </p:txBody>
      </p:sp>
      <p:sp>
        <p:nvSpPr>
          <p:cNvPr name="TextBox 18" id="18"/>
          <p:cNvSpPr txBox="true"/>
          <p:nvPr/>
        </p:nvSpPr>
        <p:spPr>
          <a:xfrm rot="0">
            <a:off x="929326" y="3641408"/>
            <a:ext cx="6537560" cy="802005"/>
          </a:xfrm>
          <a:prstGeom prst="rect">
            <a:avLst/>
          </a:prstGeom>
        </p:spPr>
        <p:txBody>
          <a:bodyPr anchor="t" rtlCol="false" tIns="0" lIns="0" bIns="0" rIns="0">
            <a:spAutoFit/>
          </a:bodyPr>
          <a:lstStyle/>
          <a:p>
            <a:pPr algn="l">
              <a:lnSpc>
                <a:spcPts val="2070"/>
              </a:lnSpc>
            </a:pPr>
            <a:r>
              <a:rPr lang="en-US" sz="1500">
                <a:solidFill>
                  <a:srgbClr val="FFFFFF"/>
                </a:solidFill>
                <a:latin typeface="Poppins"/>
                <a:ea typeface="Poppins"/>
                <a:cs typeface="Poppins"/>
                <a:sym typeface="Poppins"/>
              </a:rPr>
              <a:t>transformations to existing data, enriching your dataset with derived variables. For example, you can add a 'Profit' column by subtracting costs from revenue, facilitating more in-depth analysis.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2F2F2"/>
        </a:solidFill>
      </p:bgPr>
    </p:bg>
    <p:spTree>
      <p:nvGrpSpPr>
        <p:cNvPr id="1" name=""/>
        <p:cNvGrpSpPr/>
        <p:nvPr/>
      </p:nvGrpSpPr>
      <p:grpSpPr>
        <a:xfrm>
          <a:off x="0" y="0"/>
          <a:ext cx="0" cy="0"/>
          <a:chOff x="0" y="0"/>
          <a:chExt cx="0" cy="0"/>
        </a:xfrm>
      </p:grpSpPr>
      <p:sp>
        <p:nvSpPr>
          <p:cNvPr name="Freeform 2" id="2"/>
          <p:cNvSpPr/>
          <p:nvPr/>
        </p:nvSpPr>
        <p:spPr>
          <a:xfrm flipH="false" flipV="false" rot="0">
            <a:off x="843601" y="1419225"/>
            <a:ext cx="6614579" cy="4762500"/>
          </a:xfrm>
          <a:custGeom>
            <a:avLst/>
            <a:gdLst/>
            <a:ahLst/>
            <a:cxnLst/>
            <a:rect r="r" b="b" t="t" l="l"/>
            <a:pathLst>
              <a:path h="4762500" w="6614579">
                <a:moveTo>
                  <a:pt x="0" y="0"/>
                </a:moveTo>
                <a:lnTo>
                  <a:pt x="6614579" y="0"/>
                </a:lnTo>
                <a:lnTo>
                  <a:pt x="6614579" y="4762500"/>
                </a:lnTo>
                <a:lnTo>
                  <a:pt x="0" y="47625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43601" y="369351"/>
            <a:ext cx="10510199" cy="899951"/>
          </a:xfrm>
          <a:custGeom>
            <a:avLst/>
            <a:gdLst/>
            <a:ahLst/>
            <a:cxnLst/>
            <a:rect r="r" b="b" t="t" l="l"/>
            <a:pathLst>
              <a:path h="899951" w="10510199">
                <a:moveTo>
                  <a:pt x="0" y="0"/>
                </a:moveTo>
                <a:lnTo>
                  <a:pt x="10510199" y="0"/>
                </a:lnTo>
                <a:lnTo>
                  <a:pt x="10510199" y="899951"/>
                </a:lnTo>
                <a:lnTo>
                  <a:pt x="0" y="89995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0669714" y="6503670"/>
            <a:ext cx="1400175" cy="285750"/>
          </a:xfrm>
          <a:custGeom>
            <a:avLst/>
            <a:gdLst/>
            <a:ahLst/>
            <a:cxnLst/>
            <a:rect r="r" b="b" t="t" l="l"/>
            <a:pathLst>
              <a:path h="285750" w="1400175">
                <a:moveTo>
                  <a:pt x="0" y="0"/>
                </a:moveTo>
                <a:lnTo>
                  <a:pt x="1400176" y="0"/>
                </a:lnTo>
                <a:lnTo>
                  <a:pt x="1400176" y="285750"/>
                </a:lnTo>
                <a:lnTo>
                  <a:pt x="0" y="28575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7501037" y="2172760"/>
            <a:ext cx="4690963" cy="2638667"/>
          </a:xfrm>
          <a:custGeom>
            <a:avLst/>
            <a:gdLst/>
            <a:ahLst/>
            <a:cxnLst/>
            <a:rect r="r" b="b" t="t" l="l"/>
            <a:pathLst>
              <a:path h="2638667" w="4690963">
                <a:moveTo>
                  <a:pt x="0" y="0"/>
                </a:moveTo>
                <a:lnTo>
                  <a:pt x="4690963" y="0"/>
                </a:lnTo>
                <a:lnTo>
                  <a:pt x="4690963" y="2638667"/>
                </a:lnTo>
                <a:lnTo>
                  <a:pt x="0" y="2638667"/>
                </a:lnTo>
                <a:lnTo>
                  <a:pt x="0" y="0"/>
                </a:lnTo>
                <a:close/>
              </a:path>
            </a:pathLst>
          </a:custGeom>
          <a:blipFill>
            <a:blip r:embed="rId8"/>
            <a:stretch>
              <a:fillRect l="0" t="0" r="0" b="0"/>
            </a:stretch>
          </a:blipFill>
        </p:spPr>
      </p:sp>
      <p:sp>
        <p:nvSpPr>
          <p:cNvPr name="TextBox 6" id="6"/>
          <p:cNvSpPr txBox="true"/>
          <p:nvPr/>
        </p:nvSpPr>
        <p:spPr>
          <a:xfrm rot="0">
            <a:off x="929326" y="401050"/>
            <a:ext cx="5968270" cy="1320308"/>
          </a:xfrm>
          <a:prstGeom prst="rect">
            <a:avLst/>
          </a:prstGeom>
        </p:spPr>
        <p:txBody>
          <a:bodyPr anchor="t" rtlCol="false" tIns="0" lIns="0" bIns="0" rIns="0">
            <a:spAutoFit/>
          </a:bodyPr>
          <a:lstStyle/>
          <a:p>
            <a:pPr algn="l">
              <a:lnSpc>
                <a:spcPts val="5040"/>
              </a:lnSpc>
            </a:pPr>
            <a:r>
              <a:rPr lang="en-US" sz="3600">
                <a:solidFill>
                  <a:srgbClr val="424242"/>
                </a:solidFill>
                <a:latin typeface="Poppins"/>
                <a:ea typeface="Poppins"/>
                <a:cs typeface="Poppins"/>
                <a:sym typeface="Poppins"/>
              </a:rPr>
              <a:t>Data Analysis Techniques</a:t>
            </a:r>
          </a:p>
          <a:p>
            <a:pPr algn="l">
              <a:lnSpc>
                <a:spcPts val="2094"/>
              </a:lnSpc>
            </a:pPr>
            <a:r>
              <a:rPr lang="en-US" b="true" sz="1500">
                <a:solidFill>
                  <a:srgbClr val="424242"/>
                </a:solidFill>
                <a:latin typeface="Poppins Bold"/>
                <a:ea typeface="Poppins Bold"/>
                <a:cs typeface="Poppins Bold"/>
                <a:sym typeface="Poppins Bold"/>
              </a:rPr>
              <a:t>Calculating summary statistics</a:t>
            </a:r>
          </a:p>
        </p:txBody>
      </p:sp>
      <p:sp>
        <p:nvSpPr>
          <p:cNvPr name="TextBox 7" id="7"/>
          <p:cNvSpPr txBox="true"/>
          <p:nvPr/>
        </p:nvSpPr>
        <p:spPr>
          <a:xfrm rot="0">
            <a:off x="929326" y="2954846"/>
            <a:ext cx="3124505" cy="276225"/>
          </a:xfrm>
          <a:prstGeom prst="rect">
            <a:avLst/>
          </a:prstGeom>
        </p:spPr>
        <p:txBody>
          <a:bodyPr anchor="t" rtlCol="false" tIns="0" lIns="0" bIns="0" rIns="0">
            <a:spAutoFit/>
          </a:bodyPr>
          <a:lstStyle/>
          <a:p>
            <a:pPr algn="l">
              <a:lnSpc>
                <a:spcPts val="2094"/>
              </a:lnSpc>
            </a:pPr>
            <a:r>
              <a:rPr lang="en-US" b="true" sz="1500">
                <a:solidFill>
                  <a:srgbClr val="424242"/>
                </a:solidFill>
                <a:latin typeface="Poppins Bold"/>
                <a:ea typeface="Poppins Bold"/>
                <a:cs typeface="Poppins Bold"/>
                <a:sym typeface="Poppins Bold"/>
              </a:rPr>
              <a:t>Identifying trends and patterns</a:t>
            </a:r>
          </a:p>
        </p:txBody>
      </p:sp>
      <p:sp>
        <p:nvSpPr>
          <p:cNvPr name="TextBox 8" id="8"/>
          <p:cNvSpPr txBox="true"/>
          <p:nvPr/>
        </p:nvSpPr>
        <p:spPr>
          <a:xfrm rot="0">
            <a:off x="2838717" y="3199105"/>
            <a:ext cx="48425" cy="269872"/>
          </a:xfrm>
          <a:prstGeom prst="rect">
            <a:avLst/>
          </a:prstGeom>
        </p:spPr>
        <p:txBody>
          <a:bodyPr anchor="t" rtlCol="false" tIns="0" lIns="0" bIns="0" rIns="0">
            <a:spAutoFit/>
          </a:bodyPr>
          <a:lstStyle/>
          <a:p>
            <a:pPr algn="l">
              <a:lnSpc>
                <a:spcPts val="1954"/>
              </a:lnSpc>
            </a:pPr>
            <a:r>
              <a:rPr lang="en-US" sz="1399">
                <a:solidFill>
                  <a:srgbClr val="424242"/>
                </a:solidFill>
                <a:latin typeface="Poppins"/>
                <a:ea typeface="Poppins"/>
                <a:cs typeface="Poppins"/>
                <a:sym typeface="Poppins"/>
              </a:rPr>
              <a:t> </a:t>
            </a:r>
          </a:p>
        </p:txBody>
      </p:sp>
      <p:sp>
        <p:nvSpPr>
          <p:cNvPr name="TextBox 9" id="9"/>
          <p:cNvSpPr txBox="true"/>
          <p:nvPr/>
        </p:nvSpPr>
        <p:spPr>
          <a:xfrm rot="0">
            <a:off x="2636025" y="1709395"/>
            <a:ext cx="48425" cy="269872"/>
          </a:xfrm>
          <a:prstGeom prst="rect">
            <a:avLst/>
          </a:prstGeom>
        </p:spPr>
        <p:txBody>
          <a:bodyPr anchor="t" rtlCol="false" tIns="0" lIns="0" bIns="0" rIns="0">
            <a:spAutoFit/>
          </a:bodyPr>
          <a:lstStyle/>
          <a:p>
            <a:pPr algn="l">
              <a:lnSpc>
                <a:spcPts val="1954"/>
              </a:lnSpc>
            </a:pPr>
            <a:r>
              <a:rPr lang="en-US" sz="1399">
                <a:solidFill>
                  <a:srgbClr val="424242"/>
                </a:solidFill>
                <a:latin typeface="Poppins"/>
                <a:ea typeface="Poppins"/>
                <a:cs typeface="Poppins"/>
                <a:sym typeface="Poppins"/>
              </a:rPr>
              <a:t> </a:t>
            </a:r>
          </a:p>
        </p:txBody>
      </p:sp>
      <p:sp>
        <p:nvSpPr>
          <p:cNvPr name="TextBox 10" id="10"/>
          <p:cNvSpPr txBox="true"/>
          <p:nvPr/>
        </p:nvSpPr>
        <p:spPr>
          <a:xfrm rot="0">
            <a:off x="929326" y="4444556"/>
            <a:ext cx="4083425" cy="276225"/>
          </a:xfrm>
          <a:prstGeom prst="rect">
            <a:avLst/>
          </a:prstGeom>
        </p:spPr>
        <p:txBody>
          <a:bodyPr anchor="t" rtlCol="false" tIns="0" lIns="0" bIns="0" rIns="0">
            <a:spAutoFit/>
          </a:bodyPr>
          <a:lstStyle/>
          <a:p>
            <a:pPr algn="l">
              <a:lnSpc>
                <a:spcPts val="2094"/>
              </a:lnSpc>
            </a:pPr>
            <a:r>
              <a:rPr lang="en-US" b="true" sz="1500">
                <a:solidFill>
                  <a:srgbClr val="424242"/>
                </a:solidFill>
                <a:latin typeface="Poppins Bold"/>
                <a:ea typeface="Poppins Bold"/>
                <a:cs typeface="Poppins Bold"/>
                <a:sym typeface="Poppins Bold"/>
              </a:rPr>
              <a:t>Using pivot tables and cross-tabulations</a:t>
            </a:r>
          </a:p>
        </p:txBody>
      </p:sp>
      <p:sp>
        <p:nvSpPr>
          <p:cNvPr name="TextBox 11" id="11"/>
          <p:cNvSpPr txBox="true"/>
          <p:nvPr/>
        </p:nvSpPr>
        <p:spPr>
          <a:xfrm rot="0">
            <a:off x="1354264" y="4688815"/>
            <a:ext cx="48425" cy="269872"/>
          </a:xfrm>
          <a:prstGeom prst="rect">
            <a:avLst/>
          </a:prstGeom>
        </p:spPr>
        <p:txBody>
          <a:bodyPr anchor="t" rtlCol="false" tIns="0" lIns="0" bIns="0" rIns="0">
            <a:spAutoFit/>
          </a:bodyPr>
          <a:lstStyle/>
          <a:p>
            <a:pPr algn="l">
              <a:lnSpc>
                <a:spcPts val="1954"/>
              </a:lnSpc>
            </a:pPr>
            <a:r>
              <a:rPr lang="en-US" sz="1399">
                <a:solidFill>
                  <a:srgbClr val="424242"/>
                </a:solidFill>
                <a:latin typeface="Poppins"/>
                <a:ea typeface="Poppins"/>
                <a:cs typeface="Poppins"/>
                <a:sym typeface="Poppins"/>
              </a:rPr>
              <a:t> </a:t>
            </a:r>
          </a:p>
        </p:txBody>
      </p:sp>
      <p:sp>
        <p:nvSpPr>
          <p:cNvPr name="TextBox 12" id="12"/>
          <p:cNvSpPr txBox="true"/>
          <p:nvPr/>
        </p:nvSpPr>
        <p:spPr>
          <a:xfrm rot="0">
            <a:off x="929326" y="1709395"/>
            <a:ext cx="6354709" cy="269872"/>
          </a:xfrm>
          <a:prstGeom prst="rect">
            <a:avLst/>
          </a:prstGeom>
        </p:spPr>
        <p:txBody>
          <a:bodyPr anchor="t" rtlCol="false" tIns="0" lIns="0" bIns="0" rIns="0">
            <a:spAutoFit/>
          </a:bodyPr>
          <a:lstStyle/>
          <a:p>
            <a:pPr algn="l">
              <a:lnSpc>
                <a:spcPts val="1931"/>
              </a:lnSpc>
            </a:pPr>
            <a:r>
              <a:rPr lang="en-US" sz="1399">
                <a:solidFill>
                  <a:srgbClr val="424242"/>
                </a:solidFill>
                <a:latin typeface="Poppins"/>
                <a:ea typeface="Poppins"/>
                <a:cs typeface="Poppins"/>
                <a:sym typeface="Poppins"/>
              </a:rPr>
              <a:t>Summary statisticslike mean,median, mode, and standard deviation </a:t>
            </a:r>
          </a:p>
        </p:txBody>
      </p:sp>
      <p:sp>
        <p:nvSpPr>
          <p:cNvPr name="TextBox 13" id="13"/>
          <p:cNvSpPr txBox="true"/>
          <p:nvPr/>
        </p:nvSpPr>
        <p:spPr>
          <a:xfrm rot="0">
            <a:off x="929326" y="1954759"/>
            <a:ext cx="6184421" cy="760600"/>
          </a:xfrm>
          <a:prstGeom prst="rect">
            <a:avLst/>
          </a:prstGeom>
        </p:spPr>
        <p:txBody>
          <a:bodyPr anchor="t" rtlCol="false" tIns="0" lIns="0" bIns="0" rIns="0">
            <a:spAutoFit/>
          </a:bodyPr>
          <a:lstStyle/>
          <a:p>
            <a:pPr algn="l">
              <a:lnSpc>
                <a:spcPts val="1931"/>
              </a:lnSpc>
            </a:pPr>
            <a:r>
              <a:rPr lang="en-US" sz="1399">
                <a:solidFill>
                  <a:srgbClr val="424242"/>
                </a:solidFill>
                <a:latin typeface="Poppins"/>
                <a:ea typeface="Poppins"/>
                <a:cs typeface="Poppins"/>
                <a:sym typeface="Poppins"/>
              </a:rPr>
              <a:t>provide a quick overview of data distribution and variability. Pandas functions like `mean()`, `median()`, and `describe()` streamline this process, helping to identify patterns and anomalies.</a:t>
            </a:r>
          </a:p>
        </p:txBody>
      </p:sp>
      <p:sp>
        <p:nvSpPr>
          <p:cNvPr name="TextBox 14" id="14"/>
          <p:cNvSpPr txBox="true"/>
          <p:nvPr/>
        </p:nvSpPr>
        <p:spPr>
          <a:xfrm rot="0">
            <a:off x="929326" y="4688815"/>
            <a:ext cx="5799763" cy="269872"/>
          </a:xfrm>
          <a:prstGeom prst="rect">
            <a:avLst/>
          </a:prstGeom>
        </p:spPr>
        <p:txBody>
          <a:bodyPr anchor="t" rtlCol="false" tIns="0" lIns="0" bIns="0" rIns="0">
            <a:spAutoFit/>
          </a:bodyPr>
          <a:lstStyle/>
          <a:p>
            <a:pPr algn="l">
              <a:lnSpc>
                <a:spcPts val="1931"/>
              </a:lnSpc>
            </a:pPr>
            <a:r>
              <a:rPr lang="en-US" sz="1399">
                <a:solidFill>
                  <a:srgbClr val="424242"/>
                </a:solidFill>
                <a:latin typeface="Poppins"/>
                <a:ea typeface="Poppins"/>
                <a:cs typeface="Poppins"/>
                <a:sym typeface="Poppins"/>
              </a:rPr>
              <a:t>Pivottables and cross-tabulationsallowyou to reorganize data </a:t>
            </a:r>
          </a:p>
        </p:txBody>
      </p:sp>
      <p:sp>
        <p:nvSpPr>
          <p:cNvPr name="TextBox 15" id="15"/>
          <p:cNvSpPr txBox="true"/>
          <p:nvPr/>
        </p:nvSpPr>
        <p:spPr>
          <a:xfrm rot="0">
            <a:off x="929326" y="4934179"/>
            <a:ext cx="6593738" cy="760600"/>
          </a:xfrm>
          <a:prstGeom prst="rect">
            <a:avLst/>
          </a:prstGeom>
        </p:spPr>
        <p:txBody>
          <a:bodyPr anchor="t" rtlCol="false" tIns="0" lIns="0" bIns="0" rIns="0">
            <a:spAutoFit/>
          </a:bodyPr>
          <a:lstStyle/>
          <a:p>
            <a:pPr algn="l">
              <a:lnSpc>
                <a:spcPts val="1931"/>
              </a:lnSpc>
            </a:pPr>
            <a:r>
              <a:rPr lang="en-US" sz="1399">
                <a:solidFill>
                  <a:srgbClr val="424242"/>
                </a:solidFill>
                <a:latin typeface="Poppins"/>
                <a:ea typeface="Poppins"/>
                <a:cs typeface="Poppins"/>
                <a:sym typeface="Poppins"/>
              </a:rPr>
              <a:t>dynamically, summarizing information across multiple dimensions. They are invaluable for uncovering relationships and generating summary reports quickly and interactively.</a:t>
            </a:r>
          </a:p>
        </p:txBody>
      </p:sp>
      <p:sp>
        <p:nvSpPr>
          <p:cNvPr name="TextBox 16" id="16"/>
          <p:cNvSpPr txBox="true"/>
          <p:nvPr/>
        </p:nvSpPr>
        <p:spPr>
          <a:xfrm rot="0">
            <a:off x="929326" y="3199105"/>
            <a:ext cx="6621847" cy="269872"/>
          </a:xfrm>
          <a:prstGeom prst="rect">
            <a:avLst/>
          </a:prstGeom>
        </p:spPr>
        <p:txBody>
          <a:bodyPr anchor="t" rtlCol="false" tIns="0" lIns="0" bIns="0" rIns="0">
            <a:spAutoFit/>
          </a:bodyPr>
          <a:lstStyle/>
          <a:p>
            <a:pPr algn="l">
              <a:lnSpc>
                <a:spcPts val="1931"/>
              </a:lnSpc>
            </a:pPr>
            <a:r>
              <a:rPr lang="en-US" sz="1399">
                <a:solidFill>
                  <a:srgbClr val="424242"/>
                </a:solidFill>
                <a:latin typeface="Poppins"/>
                <a:ea typeface="Poppins"/>
                <a:cs typeface="Poppins"/>
                <a:sym typeface="Poppins"/>
              </a:rPr>
              <a:t>Analyzing trends overtime or across categories involves examining data </a:t>
            </a:r>
          </a:p>
        </p:txBody>
      </p:sp>
      <p:sp>
        <p:nvSpPr>
          <p:cNvPr name="TextBox 17" id="17"/>
          <p:cNvSpPr txBox="true"/>
          <p:nvPr/>
        </p:nvSpPr>
        <p:spPr>
          <a:xfrm rot="0">
            <a:off x="929326" y="3444469"/>
            <a:ext cx="6602987" cy="760600"/>
          </a:xfrm>
          <a:prstGeom prst="rect">
            <a:avLst/>
          </a:prstGeom>
        </p:spPr>
        <p:txBody>
          <a:bodyPr anchor="t" rtlCol="false" tIns="0" lIns="0" bIns="0" rIns="0">
            <a:spAutoFit/>
          </a:bodyPr>
          <a:lstStyle/>
          <a:p>
            <a:pPr algn="l">
              <a:lnSpc>
                <a:spcPts val="1931"/>
              </a:lnSpc>
            </a:pPr>
            <a:r>
              <a:rPr lang="en-US" sz="1399">
                <a:solidFill>
                  <a:srgbClr val="424242"/>
                </a:solidFill>
                <a:latin typeface="Poppins"/>
                <a:ea typeface="Poppins"/>
                <a:cs typeface="Poppins"/>
                <a:sym typeface="Poppins"/>
              </a:rPr>
              <a:t>sequences and relationships. Visualization tools and correlation analysis reveal underlying patterns, informing strategic decisions and predictions.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3E8E0"/>
        </a:solidFill>
      </p:bgPr>
    </p:bg>
    <p:spTree>
      <p:nvGrpSpPr>
        <p:cNvPr id="1" name=""/>
        <p:cNvGrpSpPr/>
        <p:nvPr/>
      </p:nvGrpSpPr>
      <p:grpSpPr>
        <a:xfrm>
          <a:off x="0" y="0"/>
          <a:ext cx="0" cy="0"/>
          <a:chOff x="0" y="0"/>
          <a:chExt cx="0" cy="0"/>
        </a:xfrm>
      </p:grpSpPr>
      <p:sp>
        <p:nvSpPr>
          <p:cNvPr name="Freeform 2" id="2"/>
          <p:cNvSpPr/>
          <p:nvPr/>
        </p:nvSpPr>
        <p:spPr>
          <a:xfrm flipH="false" flipV="false" rot="0">
            <a:off x="845401" y="365122"/>
            <a:ext cx="10515600" cy="1218800"/>
          </a:xfrm>
          <a:custGeom>
            <a:avLst/>
            <a:gdLst/>
            <a:ahLst/>
            <a:cxnLst/>
            <a:rect r="r" b="b" t="t" l="l"/>
            <a:pathLst>
              <a:path h="1218800" w="10515600">
                <a:moveTo>
                  <a:pt x="0" y="0"/>
                </a:moveTo>
                <a:lnTo>
                  <a:pt x="10515600" y="0"/>
                </a:lnTo>
                <a:lnTo>
                  <a:pt x="10515600" y="1218800"/>
                </a:lnTo>
                <a:lnTo>
                  <a:pt x="0" y="1218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80098" y="1762125"/>
            <a:ext cx="11475406" cy="5090798"/>
          </a:xfrm>
          <a:custGeom>
            <a:avLst/>
            <a:gdLst/>
            <a:ahLst/>
            <a:cxnLst/>
            <a:rect r="r" b="b" t="t" l="l"/>
            <a:pathLst>
              <a:path h="5090798" w="11475406">
                <a:moveTo>
                  <a:pt x="0" y="0"/>
                </a:moveTo>
                <a:lnTo>
                  <a:pt x="11475405" y="0"/>
                </a:lnTo>
                <a:lnTo>
                  <a:pt x="11475405" y="5090798"/>
                </a:lnTo>
                <a:lnTo>
                  <a:pt x="0" y="509079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931126" y="396821"/>
            <a:ext cx="7255383" cy="676275"/>
          </a:xfrm>
          <a:prstGeom prst="rect">
            <a:avLst/>
          </a:prstGeom>
        </p:spPr>
        <p:txBody>
          <a:bodyPr anchor="t" rtlCol="false" tIns="0" lIns="0" bIns="0" rIns="0">
            <a:spAutoFit/>
          </a:bodyPr>
          <a:lstStyle/>
          <a:p>
            <a:pPr algn="l">
              <a:lnSpc>
                <a:spcPts val="5040"/>
              </a:lnSpc>
            </a:pPr>
            <a:r>
              <a:rPr lang="en-US" sz="3600">
                <a:solidFill>
                  <a:srgbClr val="424242"/>
                </a:solidFill>
                <a:latin typeface="Poppins"/>
                <a:ea typeface="Poppins"/>
                <a:cs typeface="Poppins"/>
                <a:sym typeface="Poppins"/>
              </a:rPr>
              <a:t>Visualizing Data with Matplotlib</a:t>
            </a:r>
          </a:p>
        </p:txBody>
      </p:sp>
      <p:sp>
        <p:nvSpPr>
          <p:cNvPr name="TextBox 5" id="5"/>
          <p:cNvSpPr txBox="true"/>
          <p:nvPr/>
        </p:nvSpPr>
        <p:spPr>
          <a:xfrm rot="0">
            <a:off x="929326" y="4455519"/>
            <a:ext cx="3462137" cy="342900"/>
          </a:xfrm>
          <a:prstGeom prst="rect">
            <a:avLst/>
          </a:prstGeom>
        </p:spPr>
        <p:txBody>
          <a:bodyPr anchor="t" rtlCol="false" tIns="0" lIns="0" bIns="0" rIns="0">
            <a:spAutoFit/>
          </a:bodyPr>
          <a:lstStyle/>
          <a:p>
            <a:pPr algn="l">
              <a:lnSpc>
                <a:spcPts val="2536"/>
              </a:lnSpc>
            </a:pPr>
            <a:r>
              <a:rPr lang="en-US" b="true" sz="1800">
                <a:solidFill>
                  <a:srgbClr val="424242"/>
                </a:solidFill>
                <a:latin typeface="Poppins Bold"/>
                <a:ea typeface="Poppins Bold"/>
                <a:cs typeface="Poppins Bold"/>
                <a:sym typeface="Poppins Bold"/>
              </a:rPr>
              <a:t>Saving and exporting figures</a:t>
            </a:r>
          </a:p>
        </p:txBody>
      </p:sp>
      <p:sp>
        <p:nvSpPr>
          <p:cNvPr name="TextBox 6" id="6"/>
          <p:cNvSpPr txBox="true"/>
          <p:nvPr/>
        </p:nvSpPr>
        <p:spPr>
          <a:xfrm rot="0">
            <a:off x="2101987" y="4767482"/>
            <a:ext cx="55340" cy="301628"/>
          </a:xfrm>
          <a:prstGeom prst="rect">
            <a:avLst/>
          </a:prstGeom>
        </p:spPr>
        <p:txBody>
          <a:bodyPr anchor="t" rtlCol="false" tIns="0" lIns="0" bIns="0" rIns="0">
            <a:spAutoFit/>
          </a:bodyPr>
          <a:lstStyle/>
          <a:p>
            <a:pPr algn="l">
              <a:lnSpc>
                <a:spcPts val="2254"/>
              </a:lnSpc>
            </a:pPr>
            <a:r>
              <a:rPr lang="en-US" sz="1600">
                <a:solidFill>
                  <a:srgbClr val="424242"/>
                </a:solidFill>
                <a:latin typeface="Poppins"/>
                <a:ea typeface="Poppins"/>
                <a:cs typeface="Poppins"/>
                <a:sym typeface="Poppins"/>
              </a:rPr>
              <a:t> </a:t>
            </a:r>
          </a:p>
        </p:txBody>
      </p:sp>
      <p:sp>
        <p:nvSpPr>
          <p:cNvPr name="TextBox 7" id="7"/>
          <p:cNvSpPr txBox="true"/>
          <p:nvPr/>
        </p:nvSpPr>
        <p:spPr>
          <a:xfrm rot="0">
            <a:off x="929326" y="3298803"/>
            <a:ext cx="5839558" cy="342900"/>
          </a:xfrm>
          <a:prstGeom prst="rect">
            <a:avLst/>
          </a:prstGeom>
        </p:spPr>
        <p:txBody>
          <a:bodyPr anchor="t" rtlCol="false" tIns="0" lIns="0" bIns="0" rIns="0">
            <a:spAutoFit/>
          </a:bodyPr>
          <a:lstStyle/>
          <a:p>
            <a:pPr algn="l">
              <a:lnSpc>
                <a:spcPts val="2536"/>
              </a:lnSpc>
            </a:pPr>
            <a:r>
              <a:rPr lang="en-US" b="true" sz="1800">
                <a:solidFill>
                  <a:srgbClr val="424242"/>
                </a:solidFill>
                <a:latin typeface="Poppins Bold"/>
                <a:ea typeface="Poppins Bold"/>
                <a:cs typeface="Poppins Bold"/>
                <a:sym typeface="Poppins Bold"/>
              </a:rPr>
              <a:t>Customizing plots with labels, titles, and legends</a:t>
            </a:r>
          </a:p>
        </p:txBody>
      </p:sp>
      <p:sp>
        <p:nvSpPr>
          <p:cNvPr name="TextBox 8" id="8"/>
          <p:cNvSpPr txBox="true"/>
          <p:nvPr/>
        </p:nvSpPr>
        <p:spPr>
          <a:xfrm rot="0">
            <a:off x="4032590" y="3610766"/>
            <a:ext cx="55340" cy="301628"/>
          </a:xfrm>
          <a:prstGeom prst="rect">
            <a:avLst/>
          </a:prstGeom>
        </p:spPr>
        <p:txBody>
          <a:bodyPr anchor="t" rtlCol="false" tIns="0" lIns="0" bIns="0" rIns="0">
            <a:spAutoFit/>
          </a:bodyPr>
          <a:lstStyle/>
          <a:p>
            <a:pPr algn="l">
              <a:lnSpc>
                <a:spcPts val="2254"/>
              </a:lnSpc>
            </a:pPr>
            <a:r>
              <a:rPr lang="en-US" sz="1600">
                <a:solidFill>
                  <a:srgbClr val="424242"/>
                </a:solidFill>
                <a:latin typeface="Poppins"/>
                <a:ea typeface="Poppins"/>
                <a:cs typeface="Poppins"/>
                <a:sym typeface="Poppins"/>
              </a:rPr>
              <a:t> </a:t>
            </a:r>
          </a:p>
        </p:txBody>
      </p:sp>
      <p:sp>
        <p:nvSpPr>
          <p:cNvPr name="TextBox 9" id="9"/>
          <p:cNvSpPr txBox="true"/>
          <p:nvPr/>
        </p:nvSpPr>
        <p:spPr>
          <a:xfrm rot="0">
            <a:off x="929326" y="1861671"/>
            <a:ext cx="5858685" cy="342900"/>
          </a:xfrm>
          <a:prstGeom prst="rect">
            <a:avLst/>
          </a:prstGeom>
        </p:spPr>
        <p:txBody>
          <a:bodyPr anchor="t" rtlCol="false" tIns="0" lIns="0" bIns="0" rIns="0">
            <a:spAutoFit/>
          </a:bodyPr>
          <a:lstStyle/>
          <a:p>
            <a:pPr algn="l">
              <a:lnSpc>
                <a:spcPts val="2536"/>
              </a:lnSpc>
            </a:pPr>
            <a:r>
              <a:rPr lang="en-US" b="true" sz="1800">
                <a:solidFill>
                  <a:srgbClr val="424242"/>
                </a:solidFill>
                <a:latin typeface="Poppins Bold"/>
                <a:ea typeface="Poppins Bold"/>
                <a:cs typeface="Poppins Bold"/>
                <a:sym typeface="Poppins Bold"/>
              </a:rPr>
              <a:t>Creating basic plots: line, bar, histogram, scatter</a:t>
            </a:r>
          </a:p>
        </p:txBody>
      </p:sp>
      <p:sp>
        <p:nvSpPr>
          <p:cNvPr name="TextBox 10" id="10"/>
          <p:cNvSpPr txBox="true"/>
          <p:nvPr/>
        </p:nvSpPr>
        <p:spPr>
          <a:xfrm rot="0">
            <a:off x="1944310" y="2173634"/>
            <a:ext cx="55340" cy="301628"/>
          </a:xfrm>
          <a:prstGeom prst="rect">
            <a:avLst/>
          </a:prstGeom>
        </p:spPr>
        <p:txBody>
          <a:bodyPr anchor="t" rtlCol="false" tIns="0" lIns="0" bIns="0" rIns="0">
            <a:spAutoFit/>
          </a:bodyPr>
          <a:lstStyle/>
          <a:p>
            <a:pPr algn="l">
              <a:lnSpc>
                <a:spcPts val="2254"/>
              </a:lnSpc>
            </a:pPr>
            <a:r>
              <a:rPr lang="en-US" sz="1600">
                <a:solidFill>
                  <a:srgbClr val="424242"/>
                </a:solidFill>
                <a:latin typeface="Poppins"/>
                <a:ea typeface="Poppins"/>
                <a:cs typeface="Poppins"/>
                <a:sym typeface="Poppins"/>
              </a:rPr>
              <a:t> </a:t>
            </a:r>
          </a:p>
        </p:txBody>
      </p:sp>
      <p:sp>
        <p:nvSpPr>
          <p:cNvPr name="TextBox 11" id="11"/>
          <p:cNvSpPr txBox="true"/>
          <p:nvPr/>
        </p:nvSpPr>
        <p:spPr>
          <a:xfrm rot="0">
            <a:off x="929326" y="3610766"/>
            <a:ext cx="10048151" cy="301628"/>
          </a:xfrm>
          <a:prstGeom prst="rect">
            <a:avLst/>
          </a:prstGeom>
        </p:spPr>
        <p:txBody>
          <a:bodyPr anchor="t" rtlCol="false" tIns="0" lIns="0" bIns="0" rIns="0">
            <a:spAutoFit/>
          </a:bodyPr>
          <a:lstStyle/>
          <a:p>
            <a:pPr algn="l">
              <a:lnSpc>
                <a:spcPts val="2208"/>
              </a:lnSpc>
            </a:pPr>
            <a:r>
              <a:rPr lang="en-US" sz="1600">
                <a:solidFill>
                  <a:srgbClr val="424242"/>
                </a:solidFill>
                <a:latin typeface="Poppins"/>
                <a:ea typeface="Poppins"/>
                <a:cs typeface="Poppins"/>
                <a:sym typeface="Poppins"/>
              </a:rPr>
              <a:t>Enhance your visualizations byadding descriptive axes labels, titles, and legends. Custom colors, </a:t>
            </a:r>
          </a:p>
        </p:txBody>
      </p:sp>
      <p:sp>
        <p:nvSpPr>
          <p:cNvPr name="TextBox 12" id="12"/>
          <p:cNvSpPr txBox="true"/>
          <p:nvPr/>
        </p:nvSpPr>
        <p:spPr>
          <a:xfrm rot="0">
            <a:off x="929326" y="3891182"/>
            <a:ext cx="9306773" cy="301628"/>
          </a:xfrm>
          <a:prstGeom prst="rect">
            <a:avLst/>
          </a:prstGeom>
        </p:spPr>
        <p:txBody>
          <a:bodyPr anchor="t" rtlCol="false" tIns="0" lIns="0" bIns="0" rIns="0">
            <a:spAutoFit/>
          </a:bodyPr>
          <a:lstStyle/>
          <a:p>
            <a:pPr algn="l">
              <a:lnSpc>
                <a:spcPts val="2208"/>
              </a:lnSpc>
            </a:pPr>
            <a:r>
              <a:rPr lang="en-US" sz="1600">
                <a:solidFill>
                  <a:srgbClr val="424242"/>
                </a:solidFill>
                <a:latin typeface="Poppins"/>
                <a:ea typeface="Poppins"/>
                <a:cs typeface="Poppins"/>
                <a:sym typeface="Poppins"/>
              </a:rPr>
              <a:t>markers, and styles improve clarity and make your plots more professional and engaging.</a:t>
            </a:r>
          </a:p>
        </p:txBody>
      </p:sp>
      <p:sp>
        <p:nvSpPr>
          <p:cNvPr name="TextBox 13" id="13"/>
          <p:cNvSpPr txBox="true"/>
          <p:nvPr/>
        </p:nvSpPr>
        <p:spPr>
          <a:xfrm rot="0">
            <a:off x="929326" y="4767482"/>
            <a:ext cx="10562796" cy="301628"/>
          </a:xfrm>
          <a:prstGeom prst="rect">
            <a:avLst/>
          </a:prstGeom>
        </p:spPr>
        <p:txBody>
          <a:bodyPr anchor="t" rtlCol="false" tIns="0" lIns="0" bIns="0" rIns="0">
            <a:spAutoFit/>
          </a:bodyPr>
          <a:lstStyle/>
          <a:p>
            <a:pPr algn="l">
              <a:lnSpc>
                <a:spcPts val="2208"/>
              </a:lnSpc>
            </a:pPr>
            <a:r>
              <a:rPr lang="en-US" sz="1600">
                <a:solidFill>
                  <a:srgbClr val="424242"/>
                </a:solidFill>
                <a:latin typeface="Poppins"/>
                <a:ea typeface="Poppins"/>
                <a:cs typeface="Poppins"/>
                <a:sym typeface="Poppins"/>
              </a:rPr>
              <a:t>Figures canbe saved informatssuch as PNG, JPG, PDF, or SVG using `savefig()`. Exporting high-quality </a:t>
            </a:r>
          </a:p>
        </p:txBody>
      </p:sp>
      <p:sp>
        <p:nvSpPr>
          <p:cNvPr name="TextBox 14" id="14"/>
          <p:cNvSpPr txBox="true"/>
          <p:nvPr/>
        </p:nvSpPr>
        <p:spPr>
          <a:xfrm rot="0">
            <a:off x="929326" y="5047898"/>
            <a:ext cx="9007897" cy="301628"/>
          </a:xfrm>
          <a:prstGeom prst="rect">
            <a:avLst/>
          </a:prstGeom>
        </p:spPr>
        <p:txBody>
          <a:bodyPr anchor="t" rtlCol="false" tIns="0" lIns="0" bIns="0" rIns="0">
            <a:spAutoFit/>
          </a:bodyPr>
          <a:lstStyle/>
          <a:p>
            <a:pPr algn="l">
              <a:lnSpc>
                <a:spcPts val="2208"/>
              </a:lnSpc>
            </a:pPr>
            <a:r>
              <a:rPr lang="en-US" sz="1600">
                <a:solidFill>
                  <a:srgbClr val="424242"/>
                </a:solidFill>
                <a:latin typeface="Poppins"/>
                <a:ea typeface="Poppins"/>
                <a:cs typeface="Poppins"/>
                <a:sym typeface="Poppins"/>
              </a:rPr>
              <a:t>images ensures your visualizations are ready for reports, presentations, or publications.</a:t>
            </a:r>
          </a:p>
        </p:txBody>
      </p:sp>
      <p:sp>
        <p:nvSpPr>
          <p:cNvPr name="TextBox 15" id="15"/>
          <p:cNvSpPr txBox="true"/>
          <p:nvPr/>
        </p:nvSpPr>
        <p:spPr>
          <a:xfrm rot="0">
            <a:off x="929326" y="2173634"/>
            <a:ext cx="10549528" cy="301628"/>
          </a:xfrm>
          <a:prstGeom prst="rect">
            <a:avLst/>
          </a:prstGeom>
        </p:spPr>
        <p:txBody>
          <a:bodyPr anchor="t" rtlCol="false" tIns="0" lIns="0" bIns="0" rIns="0">
            <a:spAutoFit/>
          </a:bodyPr>
          <a:lstStyle/>
          <a:p>
            <a:pPr algn="l">
              <a:lnSpc>
                <a:spcPts val="2208"/>
              </a:lnSpc>
            </a:pPr>
            <a:r>
              <a:rPr lang="en-US" sz="1600">
                <a:solidFill>
                  <a:srgbClr val="424242"/>
                </a:solidFill>
                <a:latin typeface="Poppins"/>
                <a:ea typeface="Poppins"/>
                <a:cs typeface="Poppins"/>
                <a:sym typeface="Poppins"/>
              </a:rPr>
              <a:t>Matplotlibsupports various plot typeslikelinegraphsfor trends, bar charts for categories, histograms </a:t>
            </a:r>
          </a:p>
        </p:txBody>
      </p:sp>
      <p:sp>
        <p:nvSpPr>
          <p:cNvPr name="TextBox 16" id="16"/>
          <p:cNvSpPr txBox="true"/>
          <p:nvPr/>
        </p:nvSpPr>
        <p:spPr>
          <a:xfrm rot="0">
            <a:off x="929326" y="2454050"/>
            <a:ext cx="10199046" cy="582044"/>
          </a:xfrm>
          <a:prstGeom prst="rect">
            <a:avLst/>
          </a:prstGeom>
        </p:spPr>
        <p:txBody>
          <a:bodyPr anchor="t" rtlCol="false" tIns="0" lIns="0" bIns="0" rIns="0">
            <a:spAutoFit/>
          </a:bodyPr>
          <a:lstStyle/>
          <a:p>
            <a:pPr algn="l">
              <a:lnSpc>
                <a:spcPts val="2208"/>
              </a:lnSpc>
            </a:pPr>
            <a:r>
              <a:rPr lang="en-US" sz="1600">
                <a:solidFill>
                  <a:srgbClr val="424242"/>
                </a:solidFill>
                <a:latin typeface="Poppins"/>
                <a:ea typeface="Poppins"/>
                <a:cs typeface="Poppins"/>
                <a:sym typeface="Poppins"/>
              </a:rPr>
              <a:t>for distribution, and scatter plots for relationships. These visuals communicate insights clearly and effectively.</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595959"/>
        </a:solidFill>
      </p:bgPr>
    </p:bg>
    <p:spTree>
      <p:nvGrpSpPr>
        <p:cNvPr id="1" name=""/>
        <p:cNvGrpSpPr/>
        <p:nvPr/>
      </p:nvGrpSpPr>
      <p:grpSpPr>
        <a:xfrm>
          <a:off x="0" y="0"/>
          <a:ext cx="0" cy="0"/>
          <a:chOff x="0" y="0"/>
          <a:chExt cx="0" cy="0"/>
        </a:xfrm>
      </p:grpSpPr>
      <p:sp>
        <p:nvSpPr>
          <p:cNvPr name="Freeform 2" id="2"/>
          <p:cNvSpPr/>
          <p:nvPr/>
        </p:nvSpPr>
        <p:spPr>
          <a:xfrm flipH="false" flipV="false" rot="0">
            <a:off x="10669714" y="6503670"/>
            <a:ext cx="1400175" cy="285750"/>
          </a:xfrm>
          <a:custGeom>
            <a:avLst/>
            <a:gdLst/>
            <a:ahLst/>
            <a:cxnLst/>
            <a:rect r="r" b="b" t="t" l="l"/>
            <a:pathLst>
              <a:path h="285750" w="1400175">
                <a:moveTo>
                  <a:pt x="0" y="0"/>
                </a:moveTo>
                <a:lnTo>
                  <a:pt x="1400176" y="0"/>
                </a:lnTo>
                <a:lnTo>
                  <a:pt x="1400176" y="285750"/>
                </a:lnTo>
                <a:lnTo>
                  <a:pt x="0" y="2857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80098" y="-63503"/>
            <a:ext cx="11475406" cy="6308722"/>
          </a:xfrm>
          <a:custGeom>
            <a:avLst/>
            <a:gdLst/>
            <a:ahLst/>
            <a:cxnLst/>
            <a:rect r="r" b="b" t="t" l="l"/>
            <a:pathLst>
              <a:path h="6308722" w="11475406">
                <a:moveTo>
                  <a:pt x="0" y="0"/>
                </a:moveTo>
                <a:lnTo>
                  <a:pt x="11475405" y="0"/>
                </a:lnTo>
                <a:lnTo>
                  <a:pt x="11475405" y="6308722"/>
                </a:lnTo>
                <a:lnTo>
                  <a:pt x="0" y="63087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931126" y="396821"/>
            <a:ext cx="10135057" cy="676275"/>
          </a:xfrm>
          <a:prstGeom prst="rect">
            <a:avLst/>
          </a:prstGeom>
        </p:spPr>
        <p:txBody>
          <a:bodyPr anchor="t" rtlCol="false" tIns="0" lIns="0" bIns="0" rIns="0">
            <a:spAutoFit/>
          </a:bodyPr>
          <a:lstStyle/>
          <a:p>
            <a:pPr algn="l">
              <a:lnSpc>
                <a:spcPts val="5040"/>
              </a:lnSpc>
            </a:pPr>
            <a:r>
              <a:rPr lang="en-US" sz="3600">
                <a:solidFill>
                  <a:srgbClr val="FFFFFF"/>
                </a:solidFill>
                <a:latin typeface="Poppins"/>
                <a:ea typeface="Poppins"/>
                <a:cs typeface="Poppins"/>
                <a:sym typeface="Poppins"/>
              </a:rPr>
              <a:t>Practical Example: Analyzing a Real Dataset</a:t>
            </a:r>
          </a:p>
        </p:txBody>
      </p:sp>
      <p:sp>
        <p:nvSpPr>
          <p:cNvPr name="TextBox 5" id="5"/>
          <p:cNvSpPr txBox="true"/>
          <p:nvPr/>
        </p:nvSpPr>
        <p:spPr>
          <a:xfrm rot="0">
            <a:off x="929326" y="4578201"/>
            <a:ext cx="3933606" cy="342900"/>
          </a:xfrm>
          <a:prstGeom prst="rect">
            <a:avLst/>
          </a:prstGeom>
        </p:spPr>
        <p:txBody>
          <a:bodyPr anchor="t" rtlCol="false" tIns="0" lIns="0" bIns="0" rIns="0">
            <a:spAutoFit/>
          </a:bodyPr>
          <a:lstStyle/>
          <a:p>
            <a:pPr algn="l">
              <a:lnSpc>
                <a:spcPts val="2509"/>
              </a:lnSpc>
            </a:pPr>
            <a:r>
              <a:rPr lang="en-US" b="true" sz="1800">
                <a:solidFill>
                  <a:srgbClr val="FFFFFF"/>
                </a:solidFill>
                <a:latin typeface="Poppins Bold"/>
                <a:ea typeface="Poppins Bold"/>
                <a:cs typeface="Poppins Bold"/>
                <a:sym typeface="Poppins Bold"/>
              </a:rPr>
              <a:t>Using Matplotlib for visualization</a:t>
            </a:r>
          </a:p>
        </p:txBody>
      </p:sp>
      <p:sp>
        <p:nvSpPr>
          <p:cNvPr name="TextBox 6" id="6"/>
          <p:cNvSpPr txBox="true"/>
          <p:nvPr/>
        </p:nvSpPr>
        <p:spPr>
          <a:xfrm rot="0">
            <a:off x="2396366" y="4883267"/>
            <a:ext cx="58798" cy="327022"/>
          </a:xfrm>
          <a:prstGeom prst="rect">
            <a:avLst/>
          </a:prstGeom>
        </p:spPr>
        <p:txBody>
          <a:bodyPr anchor="t" rtlCol="false" tIns="0" lIns="0" bIns="0" rIns="0">
            <a:spAutoFit/>
          </a:bodyPr>
          <a:lstStyle/>
          <a:p>
            <a:pPr algn="l">
              <a:lnSpc>
                <a:spcPts val="2369"/>
              </a:lnSpc>
            </a:pPr>
            <a:r>
              <a:rPr lang="en-US" sz="1700">
                <a:solidFill>
                  <a:srgbClr val="FFFFFF"/>
                </a:solidFill>
                <a:latin typeface="Poppins"/>
                <a:ea typeface="Poppins"/>
                <a:cs typeface="Poppins"/>
                <a:sym typeface="Poppins"/>
              </a:rPr>
              <a:t> </a:t>
            </a:r>
          </a:p>
        </p:txBody>
      </p:sp>
      <p:sp>
        <p:nvSpPr>
          <p:cNvPr name="TextBox 7" id="7"/>
          <p:cNvSpPr txBox="true"/>
          <p:nvPr/>
        </p:nvSpPr>
        <p:spPr>
          <a:xfrm rot="0">
            <a:off x="929326" y="1861671"/>
            <a:ext cx="4477369" cy="342900"/>
          </a:xfrm>
          <a:prstGeom prst="rect">
            <a:avLst/>
          </a:prstGeom>
        </p:spPr>
        <p:txBody>
          <a:bodyPr anchor="t" rtlCol="false" tIns="0" lIns="0" bIns="0" rIns="0">
            <a:spAutoFit/>
          </a:bodyPr>
          <a:lstStyle/>
          <a:p>
            <a:pPr algn="l">
              <a:lnSpc>
                <a:spcPts val="2509"/>
              </a:lnSpc>
            </a:pPr>
            <a:r>
              <a:rPr lang="en-US" b="true" sz="1800">
                <a:solidFill>
                  <a:srgbClr val="FFFFFF"/>
                </a:solidFill>
                <a:latin typeface="Poppins Bold"/>
                <a:ea typeface="Poppins Bold"/>
                <a:cs typeface="Poppins Bold"/>
                <a:sym typeface="Poppins Bold"/>
              </a:rPr>
              <a:t>Step-by-step data analysis workflow</a:t>
            </a:r>
          </a:p>
        </p:txBody>
      </p:sp>
      <p:sp>
        <p:nvSpPr>
          <p:cNvPr name="TextBox 8" id="8"/>
          <p:cNvSpPr txBox="true"/>
          <p:nvPr/>
        </p:nvSpPr>
        <p:spPr>
          <a:xfrm rot="0">
            <a:off x="1318155" y="2166737"/>
            <a:ext cx="58798" cy="327022"/>
          </a:xfrm>
          <a:prstGeom prst="rect">
            <a:avLst/>
          </a:prstGeom>
        </p:spPr>
        <p:txBody>
          <a:bodyPr anchor="t" rtlCol="false" tIns="0" lIns="0" bIns="0" rIns="0">
            <a:spAutoFit/>
          </a:bodyPr>
          <a:lstStyle/>
          <a:p>
            <a:pPr algn="l">
              <a:lnSpc>
                <a:spcPts val="2369"/>
              </a:lnSpc>
            </a:pPr>
            <a:r>
              <a:rPr lang="en-US" sz="1700">
                <a:solidFill>
                  <a:srgbClr val="FFFFFF"/>
                </a:solidFill>
                <a:latin typeface="Poppins"/>
                <a:ea typeface="Poppins"/>
                <a:cs typeface="Poppins"/>
                <a:sym typeface="Poppins"/>
              </a:rPr>
              <a:t> </a:t>
            </a:r>
          </a:p>
        </p:txBody>
      </p:sp>
      <p:sp>
        <p:nvSpPr>
          <p:cNvPr name="TextBox 9" id="9"/>
          <p:cNvSpPr txBox="true"/>
          <p:nvPr/>
        </p:nvSpPr>
        <p:spPr>
          <a:xfrm rot="0">
            <a:off x="929326" y="3368907"/>
            <a:ext cx="4739221" cy="342900"/>
          </a:xfrm>
          <a:prstGeom prst="rect">
            <a:avLst/>
          </a:prstGeom>
        </p:spPr>
        <p:txBody>
          <a:bodyPr anchor="t" rtlCol="false" tIns="0" lIns="0" bIns="0" rIns="0">
            <a:spAutoFit/>
          </a:bodyPr>
          <a:lstStyle/>
          <a:p>
            <a:pPr algn="l">
              <a:lnSpc>
                <a:spcPts val="2509"/>
              </a:lnSpc>
            </a:pPr>
            <a:r>
              <a:rPr lang="en-US" b="true" sz="1800">
                <a:solidFill>
                  <a:srgbClr val="FFFFFF"/>
                </a:solidFill>
                <a:latin typeface="Poppins Bold"/>
                <a:ea typeface="Poppins Bold"/>
                <a:cs typeface="Poppins Bold"/>
                <a:sym typeface="Poppins Bold"/>
              </a:rPr>
              <a:t>Applying Pandas for data manipulation</a:t>
            </a:r>
          </a:p>
        </p:txBody>
      </p:sp>
      <p:sp>
        <p:nvSpPr>
          <p:cNvPr name="TextBox 10" id="10"/>
          <p:cNvSpPr txBox="true"/>
          <p:nvPr/>
        </p:nvSpPr>
        <p:spPr>
          <a:xfrm rot="0">
            <a:off x="2351456" y="3673973"/>
            <a:ext cx="58798" cy="327022"/>
          </a:xfrm>
          <a:prstGeom prst="rect">
            <a:avLst/>
          </a:prstGeom>
        </p:spPr>
        <p:txBody>
          <a:bodyPr anchor="t" rtlCol="false" tIns="0" lIns="0" bIns="0" rIns="0">
            <a:spAutoFit/>
          </a:bodyPr>
          <a:lstStyle/>
          <a:p>
            <a:pPr algn="l">
              <a:lnSpc>
                <a:spcPts val="2369"/>
              </a:lnSpc>
            </a:pPr>
            <a:r>
              <a:rPr lang="en-US" sz="1700">
                <a:solidFill>
                  <a:srgbClr val="FFFFFF"/>
                </a:solidFill>
                <a:latin typeface="Poppins"/>
                <a:ea typeface="Poppins"/>
                <a:cs typeface="Poppins"/>
                <a:sym typeface="Poppins"/>
              </a:rPr>
              <a:t> </a:t>
            </a:r>
          </a:p>
        </p:txBody>
      </p:sp>
      <p:sp>
        <p:nvSpPr>
          <p:cNvPr name="TextBox 11" id="11"/>
          <p:cNvSpPr txBox="true"/>
          <p:nvPr/>
        </p:nvSpPr>
        <p:spPr>
          <a:xfrm rot="0">
            <a:off x="929326" y="4883267"/>
            <a:ext cx="9965303" cy="327022"/>
          </a:xfrm>
          <a:prstGeom prst="rect">
            <a:avLst/>
          </a:prstGeom>
        </p:spPr>
        <p:txBody>
          <a:bodyPr anchor="t" rtlCol="false" tIns="0" lIns="0" bIns="0" rIns="0">
            <a:spAutoFit/>
          </a:bodyPr>
          <a:lstStyle/>
          <a:p>
            <a:pPr algn="l">
              <a:lnSpc>
                <a:spcPts val="2345"/>
              </a:lnSpc>
            </a:pPr>
            <a:r>
              <a:rPr lang="en-US" sz="1700">
                <a:solidFill>
                  <a:srgbClr val="FFFFFF"/>
                </a:solidFill>
                <a:latin typeface="Poppins"/>
                <a:ea typeface="Poppins"/>
                <a:cs typeface="Poppins"/>
                <a:sym typeface="Poppins"/>
              </a:rPr>
              <a:t>Visualizationssuchasline plotsfor trends, bar charts for distributions, and scatter plots for </a:t>
            </a:r>
          </a:p>
        </p:txBody>
      </p:sp>
      <p:sp>
        <p:nvSpPr>
          <p:cNvPr name="TextBox 12" id="12"/>
          <p:cNvSpPr txBox="true"/>
          <p:nvPr/>
        </p:nvSpPr>
        <p:spPr>
          <a:xfrm rot="0">
            <a:off x="929326" y="5181209"/>
            <a:ext cx="10030492" cy="624964"/>
          </a:xfrm>
          <a:prstGeom prst="rect">
            <a:avLst/>
          </a:prstGeom>
        </p:spPr>
        <p:txBody>
          <a:bodyPr anchor="t" rtlCol="false" tIns="0" lIns="0" bIns="0" rIns="0">
            <a:spAutoFit/>
          </a:bodyPr>
          <a:lstStyle/>
          <a:p>
            <a:pPr algn="l">
              <a:lnSpc>
                <a:spcPts val="2345"/>
              </a:lnSpc>
            </a:pPr>
            <a:r>
              <a:rPr lang="en-US" sz="1700">
                <a:solidFill>
                  <a:srgbClr val="FFFFFF"/>
                </a:solidFill>
                <a:latin typeface="Poppins"/>
                <a:ea typeface="Poppins"/>
                <a:cs typeface="Poppins"/>
                <a:sym typeface="Poppins"/>
              </a:rPr>
              <a:t>correlations help interpret the data effectively, revealing patterns that support data-driven decisions.</a:t>
            </a:r>
          </a:p>
        </p:txBody>
      </p:sp>
      <p:sp>
        <p:nvSpPr>
          <p:cNvPr name="TextBox 13" id="13"/>
          <p:cNvSpPr txBox="true"/>
          <p:nvPr/>
        </p:nvSpPr>
        <p:spPr>
          <a:xfrm rot="0">
            <a:off x="929326" y="2166737"/>
            <a:ext cx="9009783" cy="327022"/>
          </a:xfrm>
          <a:prstGeom prst="rect">
            <a:avLst/>
          </a:prstGeom>
        </p:spPr>
        <p:txBody>
          <a:bodyPr anchor="t" rtlCol="false" tIns="0" lIns="0" bIns="0" rIns="0">
            <a:spAutoFit/>
          </a:bodyPr>
          <a:lstStyle/>
          <a:p>
            <a:pPr algn="l">
              <a:lnSpc>
                <a:spcPts val="2345"/>
              </a:lnSpc>
            </a:pPr>
            <a:r>
              <a:rPr lang="en-US" sz="1700">
                <a:solidFill>
                  <a:srgbClr val="FFFFFF"/>
                </a:solidFill>
                <a:latin typeface="Poppins"/>
                <a:ea typeface="Poppins"/>
                <a:cs typeface="Poppins"/>
                <a:sym typeface="Poppins"/>
              </a:rPr>
              <a:t>Theanalysis begins withloading a dataset, followed by exploration, cleaning, and </a:t>
            </a:r>
          </a:p>
        </p:txBody>
      </p:sp>
      <p:sp>
        <p:nvSpPr>
          <p:cNvPr name="TextBox 14" id="14"/>
          <p:cNvSpPr txBox="true"/>
          <p:nvPr/>
        </p:nvSpPr>
        <p:spPr>
          <a:xfrm rot="0">
            <a:off x="929326" y="2464679"/>
            <a:ext cx="10216791" cy="624964"/>
          </a:xfrm>
          <a:prstGeom prst="rect">
            <a:avLst/>
          </a:prstGeom>
        </p:spPr>
        <p:txBody>
          <a:bodyPr anchor="t" rtlCol="false" tIns="0" lIns="0" bIns="0" rIns="0">
            <a:spAutoFit/>
          </a:bodyPr>
          <a:lstStyle/>
          <a:p>
            <a:pPr algn="l">
              <a:lnSpc>
                <a:spcPts val="2345"/>
              </a:lnSpc>
            </a:pPr>
            <a:r>
              <a:rPr lang="en-US" sz="1700">
                <a:solidFill>
                  <a:srgbClr val="FFFFFF"/>
                </a:solidFill>
                <a:latin typeface="Poppins"/>
                <a:ea typeface="Poppins"/>
                <a:cs typeface="Poppins"/>
                <a:sym typeface="Poppins"/>
              </a:rPr>
              <a:t>transformation. Each step involves applying Pandas functions to extract meaningful insights, culminating in visualizations that illustrate key findings.</a:t>
            </a:r>
          </a:p>
        </p:txBody>
      </p:sp>
      <p:sp>
        <p:nvSpPr>
          <p:cNvPr name="TextBox 15" id="15"/>
          <p:cNvSpPr txBox="true"/>
          <p:nvPr/>
        </p:nvSpPr>
        <p:spPr>
          <a:xfrm rot="0">
            <a:off x="929326" y="3673973"/>
            <a:ext cx="9966627" cy="327022"/>
          </a:xfrm>
          <a:prstGeom prst="rect">
            <a:avLst/>
          </a:prstGeom>
        </p:spPr>
        <p:txBody>
          <a:bodyPr anchor="t" rtlCol="false" tIns="0" lIns="0" bIns="0" rIns="0">
            <a:spAutoFit/>
          </a:bodyPr>
          <a:lstStyle/>
          <a:p>
            <a:pPr algn="l">
              <a:lnSpc>
                <a:spcPts val="2345"/>
              </a:lnSpc>
            </a:pPr>
            <a:r>
              <a:rPr lang="en-US" sz="1700">
                <a:solidFill>
                  <a:srgbClr val="FFFFFF"/>
                </a:solidFill>
                <a:latin typeface="Poppins"/>
                <a:ea typeface="Poppins"/>
                <a:cs typeface="Poppins"/>
                <a:sym typeface="Poppins"/>
              </a:rPr>
              <a:t>Manipulatingdataincludes filteringrows,creating new variables, aggregating results, and </a:t>
            </a:r>
          </a:p>
        </p:txBody>
      </p:sp>
      <p:sp>
        <p:nvSpPr>
          <p:cNvPr name="TextBox 16" id="16"/>
          <p:cNvSpPr txBox="true"/>
          <p:nvPr/>
        </p:nvSpPr>
        <p:spPr>
          <a:xfrm rot="0">
            <a:off x="929326" y="3971915"/>
            <a:ext cx="10517610" cy="327022"/>
          </a:xfrm>
          <a:prstGeom prst="rect">
            <a:avLst/>
          </a:prstGeom>
        </p:spPr>
        <p:txBody>
          <a:bodyPr anchor="t" rtlCol="false" tIns="0" lIns="0" bIns="0" rIns="0">
            <a:spAutoFit/>
          </a:bodyPr>
          <a:lstStyle/>
          <a:p>
            <a:pPr algn="l">
              <a:lnSpc>
                <a:spcPts val="2345"/>
              </a:lnSpc>
            </a:pPr>
            <a:r>
              <a:rPr lang="en-US" sz="1700">
                <a:solidFill>
                  <a:srgbClr val="FFFFFF"/>
                </a:solidFill>
                <a:latin typeface="Poppins"/>
                <a:ea typeface="Poppins"/>
                <a:cs typeface="Poppins"/>
                <a:sym typeface="Poppins"/>
              </a:rPr>
              <a:t>reshaping datasets. These operations prepare your data for targeted analysis and visualization.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595959"/>
        </a:solidFill>
      </p:bgPr>
    </p:bg>
    <p:spTree>
      <p:nvGrpSpPr>
        <p:cNvPr id="1" name=""/>
        <p:cNvGrpSpPr/>
        <p:nvPr/>
      </p:nvGrpSpPr>
      <p:grpSpPr>
        <a:xfrm>
          <a:off x="0" y="0"/>
          <a:ext cx="0" cy="0"/>
          <a:chOff x="0" y="0"/>
          <a:chExt cx="0" cy="0"/>
        </a:xfrm>
      </p:grpSpPr>
      <p:sp>
        <p:nvSpPr>
          <p:cNvPr name="Freeform 2" id="2"/>
          <p:cNvSpPr/>
          <p:nvPr/>
        </p:nvSpPr>
        <p:spPr>
          <a:xfrm flipH="false" flipV="false" rot="0">
            <a:off x="10669714" y="6503670"/>
            <a:ext cx="1400175" cy="285750"/>
          </a:xfrm>
          <a:custGeom>
            <a:avLst/>
            <a:gdLst/>
            <a:ahLst/>
            <a:cxnLst/>
            <a:rect r="r" b="b" t="t" l="l"/>
            <a:pathLst>
              <a:path h="285750" w="1400175">
                <a:moveTo>
                  <a:pt x="0" y="0"/>
                </a:moveTo>
                <a:lnTo>
                  <a:pt x="1400176" y="0"/>
                </a:lnTo>
                <a:lnTo>
                  <a:pt x="1400176" y="285750"/>
                </a:lnTo>
                <a:lnTo>
                  <a:pt x="0" y="2857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80098" y="-63503"/>
            <a:ext cx="11475406" cy="6308722"/>
          </a:xfrm>
          <a:custGeom>
            <a:avLst/>
            <a:gdLst/>
            <a:ahLst/>
            <a:cxnLst/>
            <a:rect r="r" b="b" t="t" l="l"/>
            <a:pathLst>
              <a:path h="6308722" w="11475406">
                <a:moveTo>
                  <a:pt x="0" y="0"/>
                </a:moveTo>
                <a:lnTo>
                  <a:pt x="11475405" y="0"/>
                </a:lnTo>
                <a:lnTo>
                  <a:pt x="11475405" y="6308722"/>
                </a:lnTo>
                <a:lnTo>
                  <a:pt x="0" y="63087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931126" y="396821"/>
            <a:ext cx="5888526" cy="676275"/>
          </a:xfrm>
          <a:prstGeom prst="rect">
            <a:avLst/>
          </a:prstGeom>
        </p:spPr>
        <p:txBody>
          <a:bodyPr anchor="t" rtlCol="false" tIns="0" lIns="0" bIns="0" rIns="0">
            <a:spAutoFit/>
          </a:bodyPr>
          <a:lstStyle/>
          <a:p>
            <a:pPr algn="l">
              <a:lnSpc>
                <a:spcPts val="5040"/>
              </a:lnSpc>
            </a:pPr>
            <a:r>
              <a:rPr lang="en-US" sz="3600">
                <a:solidFill>
                  <a:srgbClr val="FFFFFF"/>
                </a:solidFill>
                <a:latin typeface="Poppins"/>
                <a:ea typeface="Poppins"/>
                <a:cs typeface="Poppins"/>
                <a:sym typeface="Poppins"/>
              </a:rPr>
              <a:t>Summary and Next Steps</a:t>
            </a:r>
          </a:p>
        </p:txBody>
      </p:sp>
      <p:sp>
        <p:nvSpPr>
          <p:cNvPr name="TextBox 5" id="5"/>
          <p:cNvSpPr txBox="true"/>
          <p:nvPr/>
        </p:nvSpPr>
        <p:spPr>
          <a:xfrm rot="0">
            <a:off x="929326" y="3298803"/>
            <a:ext cx="3574761" cy="342900"/>
          </a:xfrm>
          <a:prstGeom prst="rect">
            <a:avLst/>
          </a:prstGeom>
        </p:spPr>
        <p:txBody>
          <a:bodyPr anchor="t" rtlCol="false" tIns="0" lIns="0" bIns="0" rIns="0">
            <a:spAutoFit/>
          </a:bodyPr>
          <a:lstStyle/>
          <a:p>
            <a:pPr algn="l">
              <a:lnSpc>
                <a:spcPts val="2536"/>
              </a:lnSpc>
            </a:pPr>
            <a:r>
              <a:rPr lang="en-US" b="true" sz="1800">
                <a:solidFill>
                  <a:srgbClr val="FFFFFF"/>
                </a:solidFill>
                <a:latin typeface="Poppins Bold"/>
                <a:ea typeface="Poppins Bold"/>
                <a:cs typeface="Poppins Bold"/>
                <a:sym typeface="Poppins Bold"/>
              </a:rPr>
              <a:t>Resources for further learning</a:t>
            </a:r>
          </a:p>
        </p:txBody>
      </p:sp>
      <p:sp>
        <p:nvSpPr>
          <p:cNvPr name="TextBox 6" id="6"/>
          <p:cNvSpPr txBox="true"/>
          <p:nvPr/>
        </p:nvSpPr>
        <p:spPr>
          <a:xfrm rot="0">
            <a:off x="1169299" y="3610766"/>
            <a:ext cx="55340" cy="301628"/>
          </a:xfrm>
          <a:prstGeom prst="rect">
            <a:avLst/>
          </a:prstGeom>
        </p:spPr>
        <p:txBody>
          <a:bodyPr anchor="t" rtlCol="false" tIns="0" lIns="0" bIns="0" rIns="0">
            <a:spAutoFit/>
          </a:bodyPr>
          <a:lstStyle/>
          <a:p>
            <a:pPr algn="l">
              <a:lnSpc>
                <a:spcPts val="2254"/>
              </a:lnSpc>
            </a:pPr>
            <a:r>
              <a:rPr lang="en-US" sz="1600">
                <a:solidFill>
                  <a:srgbClr val="FFFFFF"/>
                </a:solidFill>
                <a:latin typeface="Poppins"/>
                <a:ea typeface="Poppins"/>
                <a:cs typeface="Poppins"/>
                <a:sym typeface="Poppins"/>
              </a:rPr>
              <a:t> </a:t>
            </a:r>
          </a:p>
        </p:txBody>
      </p:sp>
      <p:sp>
        <p:nvSpPr>
          <p:cNvPr name="TextBox 7" id="7"/>
          <p:cNvSpPr txBox="true"/>
          <p:nvPr/>
        </p:nvSpPr>
        <p:spPr>
          <a:xfrm rot="0">
            <a:off x="929326" y="1861671"/>
            <a:ext cx="3662896" cy="342900"/>
          </a:xfrm>
          <a:prstGeom prst="rect">
            <a:avLst/>
          </a:prstGeom>
        </p:spPr>
        <p:txBody>
          <a:bodyPr anchor="t" rtlCol="false" tIns="0" lIns="0" bIns="0" rIns="0">
            <a:spAutoFit/>
          </a:bodyPr>
          <a:lstStyle/>
          <a:p>
            <a:pPr algn="l">
              <a:lnSpc>
                <a:spcPts val="2536"/>
              </a:lnSpc>
            </a:pPr>
            <a:r>
              <a:rPr lang="en-US" b="true" sz="1800">
                <a:solidFill>
                  <a:srgbClr val="FFFFFF"/>
                </a:solidFill>
                <a:latin typeface="Poppins Bold"/>
                <a:ea typeface="Poppins Bold"/>
                <a:cs typeface="Poppins Bold"/>
                <a:sym typeface="Poppins Bold"/>
              </a:rPr>
              <a:t>Recap of key concepts learned</a:t>
            </a:r>
          </a:p>
        </p:txBody>
      </p:sp>
      <p:sp>
        <p:nvSpPr>
          <p:cNvPr name="TextBox 8" id="8"/>
          <p:cNvSpPr txBox="true"/>
          <p:nvPr/>
        </p:nvSpPr>
        <p:spPr>
          <a:xfrm rot="0">
            <a:off x="1598666" y="2173634"/>
            <a:ext cx="55340" cy="301628"/>
          </a:xfrm>
          <a:prstGeom prst="rect">
            <a:avLst/>
          </a:prstGeom>
        </p:spPr>
        <p:txBody>
          <a:bodyPr anchor="t" rtlCol="false" tIns="0" lIns="0" bIns="0" rIns="0">
            <a:spAutoFit/>
          </a:bodyPr>
          <a:lstStyle/>
          <a:p>
            <a:pPr algn="l">
              <a:lnSpc>
                <a:spcPts val="2254"/>
              </a:lnSpc>
            </a:pPr>
            <a:r>
              <a:rPr lang="en-US" sz="1600">
                <a:solidFill>
                  <a:srgbClr val="FFFFFF"/>
                </a:solidFill>
                <a:latin typeface="Poppins"/>
                <a:ea typeface="Poppins"/>
                <a:cs typeface="Poppins"/>
                <a:sym typeface="Poppins"/>
              </a:rPr>
              <a:t> </a:t>
            </a:r>
          </a:p>
        </p:txBody>
      </p:sp>
      <p:sp>
        <p:nvSpPr>
          <p:cNvPr name="TextBox 9" id="9"/>
          <p:cNvSpPr txBox="true"/>
          <p:nvPr/>
        </p:nvSpPr>
        <p:spPr>
          <a:xfrm rot="0">
            <a:off x="929326" y="4735935"/>
            <a:ext cx="5489800" cy="342900"/>
          </a:xfrm>
          <a:prstGeom prst="rect">
            <a:avLst/>
          </a:prstGeom>
        </p:spPr>
        <p:txBody>
          <a:bodyPr anchor="t" rtlCol="false" tIns="0" lIns="0" bIns="0" rIns="0">
            <a:spAutoFit/>
          </a:bodyPr>
          <a:lstStyle/>
          <a:p>
            <a:pPr algn="l">
              <a:lnSpc>
                <a:spcPts val="2536"/>
              </a:lnSpc>
            </a:pPr>
            <a:r>
              <a:rPr lang="en-US" b="true" sz="1800">
                <a:solidFill>
                  <a:srgbClr val="FFFFFF"/>
                </a:solidFill>
                <a:latin typeface="Poppins Bold"/>
                <a:ea typeface="Poppins Bold"/>
                <a:cs typeface="Poppins Bold"/>
                <a:sym typeface="Poppins Bold"/>
              </a:rPr>
              <a:t>Encouragement to practice with real datasets</a:t>
            </a:r>
          </a:p>
        </p:txBody>
      </p:sp>
      <p:sp>
        <p:nvSpPr>
          <p:cNvPr name="TextBox 10" id="10"/>
          <p:cNvSpPr txBox="true"/>
          <p:nvPr/>
        </p:nvSpPr>
        <p:spPr>
          <a:xfrm rot="0">
            <a:off x="2439105" y="5047898"/>
            <a:ext cx="55340" cy="301628"/>
          </a:xfrm>
          <a:prstGeom prst="rect">
            <a:avLst/>
          </a:prstGeom>
        </p:spPr>
        <p:txBody>
          <a:bodyPr anchor="t" rtlCol="false" tIns="0" lIns="0" bIns="0" rIns="0">
            <a:spAutoFit/>
          </a:bodyPr>
          <a:lstStyle/>
          <a:p>
            <a:pPr algn="l">
              <a:lnSpc>
                <a:spcPts val="2254"/>
              </a:lnSpc>
            </a:pPr>
            <a:r>
              <a:rPr lang="en-US" sz="1600">
                <a:solidFill>
                  <a:srgbClr val="FFFFFF"/>
                </a:solidFill>
                <a:latin typeface="Poppins"/>
                <a:ea typeface="Poppins"/>
                <a:cs typeface="Poppins"/>
                <a:sym typeface="Poppins"/>
              </a:rPr>
              <a:t> </a:t>
            </a:r>
          </a:p>
        </p:txBody>
      </p:sp>
      <p:sp>
        <p:nvSpPr>
          <p:cNvPr name="TextBox 11" id="11"/>
          <p:cNvSpPr txBox="true"/>
          <p:nvPr/>
        </p:nvSpPr>
        <p:spPr>
          <a:xfrm rot="0">
            <a:off x="929326" y="2173634"/>
            <a:ext cx="9726273" cy="301628"/>
          </a:xfrm>
          <a:prstGeom prst="rect">
            <a:avLst/>
          </a:prstGeom>
        </p:spPr>
        <p:txBody>
          <a:bodyPr anchor="t" rtlCol="false" tIns="0" lIns="0" bIns="0" rIns="0">
            <a:spAutoFit/>
          </a:bodyPr>
          <a:lstStyle/>
          <a:p>
            <a:pPr algn="l">
              <a:lnSpc>
                <a:spcPts val="2208"/>
              </a:lnSpc>
            </a:pPr>
            <a:r>
              <a:rPr lang="en-US" sz="1600">
                <a:solidFill>
                  <a:srgbClr val="FFFFFF"/>
                </a:solidFill>
                <a:latin typeface="Poppins"/>
                <a:ea typeface="Poppins"/>
                <a:cs typeface="Poppins"/>
                <a:sym typeface="Poppins"/>
              </a:rPr>
              <a:t>Today,we'vecoveredthe fundamentals of data analytics with Python, including data loading, </a:t>
            </a:r>
          </a:p>
        </p:txBody>
      </p:sp>
      <p:sp>
        <p:nvSpPr>
          <p:cNvPr name="TextBox 12" id="12"/>
          <p:cNvSpPr txBox="true"/>
          <p:nvPr/>
        </p:nvSpPr>
        <p:spPr>
          <a:xfrm rot="0">
            <a:off x="929326" y="2454050"/>
            <a:ext cx="9944310" cy="582044"/>
          </a:xfrm>
          <a:prstGeom prst="rect">
            <a:avLst/>
          </a:prstGeom>
        </p:spPr>
        <p:txBody>
          <a:bodyPr anchor="t" rtlCol="false" tIns="0" lIns="0" bIns="0" rIns="0">
            <a:spAutoFit/>
          </a:bodyPr>
          <a:lstStyle/>
          <a:p>
            <a:pPr algn="l">
              <a:lnSpc>
                <a:spcPts val="2208"/>
              </a:lnSpc>
            </a:pPr>
            <a:r>
              <a:rPr lang="en-US" sz="1600">
                <a:solidFill>
                  <a:srgbClr val="FFFFFF"/>
                </a:solidFill>
                <a:latin typeface="Poppins"/>
                <a:ea typeface="Poppins"/>
                <a:cs typeface="Poppins"/>
                <a:sym typeface="Poppins"/>
              </a:rPr>
              <a:t>cleaning, analysis techniques, and visualization with Pandas and Matplotlib, empowering you to perform comprehensive data investigations.</a:t>
            </a:r>
          </a:p>
        </p:txBody>
      </p:sp>
      <p:sp>
        <p:nvSpPr>
          <p:cNvPr name="TextBox 13" id="13"/>
          <p:cNvSpPr txBox="true"/>
          <p:nvPr/>
        </p:nvSpPr>
        <p:spPr>
          <a:xfrm rot="0">
            <a:off x="929326" y="5047898"/>
            <a:ext cx="10073230" cy="301628"/>
          </a:xfrm>
          <a:prstGeom prst="rect">
            <a:avLst/>
          </a:prstGeom>
        </p:spPr>
        <p:txBody>
          <a:bodyPr anchor="t" rtlCol="false" tIns="0" lIns="0" bIns="0" rIns="0">
            <a:spAutoFit/>
          </a:bodyPr>
          <a:lstStyle/>
          <a:p>
            <a:pPr algn="l">
              <a:lnSpc>
                <a:spcPts val="2208"/>
              </a:lnSpc>
            </a:pPr>
            <a:r>
              <a:rPr lang="en-US" sz="1600">
                <a:solidFill>
                  <a:srgbClr val="FFFFFF"/>
                </a:solidFill>
                <a:latin typeface="Poppins"/>
                <a:ea typeface="Poppins"/>
                <a:cs typeface="Poppins"/>
                <a:sym typeface="Poppins"/>
              </a:rPr>
              <a:t>Applying thesetoolsto real-worlddata isthebestwayto learn. Seek out datasets related to your </a:t>
            </a:r>
          </a:p>
        </p:txBody>
      </p:sp>
      <p:sp>
        <p:nvSpPr>
          <p:cNvPr name="TextBox 14" id="14"/>
          <p:cNvSpPr txBox="true"/>
          <p:nvPr/>
        </p:nvSpPr>
        <p:spPr>
          <a:xfrm rot="0">
            <a:off x="929326" y="5328314"/>
            <a:ext cx="9827419" cy="582044"/>
          </a:xfrm>
          <a:prstGeom prst="rect">
            <a:avLst/>
          </a:prstGeom>
        </p:spPr>
        <p:txBody>
          <a:bodyPr anchor="t" rtlCol="false" tIns="0" lIns="0" bIns="0" rIns="0">
            <a:spAutoFit/>
          </a:bodyPr>
          <a:lstStyle/>
          <a:p>
            <a:pPr algn="l">
              <a:lnSpc>
                <a:spcPts val="2208"/>
              </a:lnSpc>
            </a:pPr>
            <a:r>
              <a:rPr lang="en-US" sz="1600">
                <a:solidFill>
                  <a:srgbClr val="FFFFFF"/>
                </a:solidFill>
                <a:latin typeface="Poppins"/>
                <a:ea typeface="Poppins"/>
                <a:cs typeface="Poppins"/>
                <a:sym typeface="Poppins"/>
              </a:rPr>
              <a:t>interests, analyze them systematically, and develop your own projects to build confidence and proficiency in data analysis.</a:t>
            </a:r>
          </a:p>
        </p:txBody>
      </p:sp>
      <p:sp>
        <p:nvSpPr>
          <p:cNvPr name="TextBox 15" id="15"/>
          <p:cNvSpPr txBox="true"/>
          <p:nvPr/>
        </p:nvSpPr>
        <p:spPr>
          <a:xfrm rot="0">
            <a:off x="929326" y="3610766"/>
            <a:ext cx="10327338" cy="301628"/>
          </a:xfrm>
          <a:prstGeom prst="rect">
            <a:avLst/>
          </a:prstGeom>
        </p:spPr>
        <p:txBody>
          <a:bodyPr anchor="t" rtlCol="false" tIns="0" lIns="0" bIns="0" rIns="0">
            <a:spAutoFit/>
          </a:bodyPr>
          <a:lstStyle/>
          <a:p>
            <a:pPr algn="l">
              <a:lnSpc>
                <a:spcPts val="2208"/>
              </a:lnSpc>
            </a:pPr>
            <a:r>
              <a:rPr lang="en-US" sz="1600">
                <a:solidFill>
                  <a:srgbClr val="FFFFFF"/>
                </a:solidFill>
                <a:latin typeface="Poppins"/>
                <a:ea typeface="Poppins"/>
                <a:cs typeface="Poppins"/>
                <a:sym typeface="Poppins"/>
              </a:rPr>
              <a:t>Todeepen yourskills, exploreonline tutorials, official documentation for Pandas and Matplotlib, and </a:t>
            </a:r>
          </a:p>
        </p:txBody>
      </p:sp>
      <p:sp>
        <p:nvSpPr>
          <p:cNvPr name="TextBox 16" id="16"/>
          <p:cNvSpPr txBox="true"/>
          <p:nvPr/>
        </p:nvSpPr>
        <p:spPr>
          <a:xfrm rot="0">
            <a:off x="929326" y="3891182"/>
            <a:ext cx="10190540" cy="582044"/>
          </a:xfrm>
          <a:prstGeom prst="rect">
            <a:avLst/>
          </a:prstGeom>
        </p:spPr>
        <p:txBody>
          <a:bodyPr anchor="t" rtlCol="false" tIns="0" lIns="0" bIns="0" rIns="0">
            <a:spAutoFit/>
          </a:bodyPr>
          <a:lstStyle/>
          <a:p>
            <a:pPr algn="l">
              <a:lnSpc>
                <a:spcPts val="2208"/>
              </a:lnSpc>
            </a:pPr>
            <a:r>
              <a:rPr lang="en-US" sz="1600">
                <a:solidFill>
                  <a:srgbClr val="FFFFFF"/>
                </a:solidFill>
                <a:latin typeface="Poppins"/>
                <a:ea typeface="Poppins"/>
                <a:cs typeface="Poppins"/>
                <a:sym typeface="Poppins"/>
              </a:rPr>
              <a:t>advanced courses in data analysis and visualization. Practice with diverse datasets to solidify and expand your expertise.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595959"/>
        </a:solidFill>
      </p:bgPr>
    </p:bg>
    <p:spTree>
      <p:nvGrpSpPr>
        <p:cNvPr id="1" name=""/>
        <p:cNvGrpSpPr/>
        <p:nvPr/>
      </p:nvGrpSpPr>
      <p:grpSpPr>
        <a:xfrm>
          <a:off x="0" y="0"/>
          <a:ext cx="0" cy="0"/>
          <a:chOff x="0" y="0"/>
          <a:chExt cx="0" cy="0"/>
        </a:xfrm>
      </p:grpSpPr>
      <p:sp>
        <p:nvSpPr>
          <p:cNvPr name="Freeform 2" id="2"/>
          <p:cNvSpPr/>
          <p:nvPr/>
        </p:nvSpPr>
        <p:spPr>
          <a:xfrm flipH="false" flipV="false" rot="0">
            <a:off x="774697" y="-63503"/>
            <a:ext cx="11480797" cy="6916417"/>
          </a:xfrm>
          <a:custGeom>
            <a:avLst/>
            <a:gdLst/>
            <a:ahLst/>
            <a:cxnLst/>
            <a:rect r="r" b="b" t="t" l="l"/>
            <a:pathLst>
              <a:path h="6916417" w="11480797">
                <a:moveTo>
                  <a:pt x="0" y="0"/>
                </a:moveTo>
                <a:lnTo>
                  <a:pt x="11480797" y="0"/>
                </a:lnTo>
                <a:lnTo>
                  <a:pt x="11480797" y="6916417"/>
                </a:lnTo>
                <a:lnTo>
                  <a:pt x="0" y="69164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923925" y="2344207"/>
            <a:ext cx="7897530" cy="3800856"/>
          </a:xfrm>
          <a:prstGeom prst="rect">
            <a:avLst/>
          </a:prstGeom>
        </p:spPr>
        <p:txBody>
          <a:bodyPr anchor="t" rtlCol="false" tIns="0" lIns="0" bIns="0" rIns="0">
            <a:spAutoFit/>
          </a:bodyPr>
          <a:lstStyle/>
          <a:p>
            <a:pPr algn="l">
              <a:lnSpc>
                <a:spcPts val="7452"/>
              </a:lnSpc>
            </a:pPr>
            <a:r>
              <a:rPr lang="en-US" sz="5400">
                <a:solidFill>
                  <a:srgbClr val="FFFFFF"/>
                </a:solidFill>
                <a:latin typeface="Poppins"/>
                <a:ea typeface="Poppins"/>
                <a:cs typeface="Poppins"/>
                <a:sym typeface="Poppins"/>
              </a:rPr>
              <a:t>Thank You </a:t>
            </a:r>
          </a:p>
          <a:p>
            <a:pPr algn="l">
              <a:lnSpc>
                <a:spcPts val="7452"/>
              </a:lnSpc>
            </a:pPr>
            <a:r>
              <a:rPr lang="en-US" sz="5400">
                <a:solidFill>
                  <a:srgbClr val="FFFFFF"/>
                </a:solidFill>
                <a:latin typeface="Poppins"/>
                <a:ea typeface="Poppins"/>
                <a:cs typeface="Poppins"/>
                <a:sym typeface="Poppins"/>
              </a:rPr>
              <a:t>A presentation by::</a:t>
            </a:r>
          </a:p>
          <a:p>
            <a:pPr algn="l">
              <a:lnSpc>
                <a:spcPts val="7452"/>
              </a:lnSpc>
            </a:pPr>
            <a:r>
              <a:rPr lang="en-US" sz="5400">
                <a:solidFill>
                  <a:srgbClr val="FFFFFF"/>
                </a:solidFill>
                <a:latin typeface="Poppins"/>
                <a:ea typeface="Poppins"/>
                <a:cs typeface="Poppins"/>
                <a:sym typeface="Poppins"/>
              </a:rPr>
              <a:t>AKSHAY TRIVEDI</a:t>
            </a:r>
          </a:p>
          <a:p>
            <a:pPr algn="l">
              <a:lnSpc>
                <a:spcPts val="7452"/>
              </a:lnSpc>
            </a:pPr>
            <a:r>
              <a:rPr lang="en-US" sz="5400">
                <a:solidFill>
                  <a:srgbClr val="FFFFFF"/>
                </a:solidFill>
                <a:latin typeface="Poppins"/>
                <a:ea typeface="Poppins"/>
                <a:cs typeface="Poppins"/>
                <a:sym typeface="Poppins"/>
              </a:rPr>
              <a:t>SHAIKH SALMAN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DAG4LzDvqYA</dc:identifier>
  <dcterms:modified xsi:type="dcterms:W3CDTF">2011-08-01T06:04:30Z</dcterms:modified>
  <cp:revision>1</cp:revision>
  <dc:title>1762673953384.pdf</dc:title>
</cp:coreProperties>
</file>